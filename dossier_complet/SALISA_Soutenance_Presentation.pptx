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72" r:id="rId5"/>
    <p:sldId id="259" r:id="rId6"/>
    <p:sldId id="260" r:id="rId7"/>
    <p:sldId id="283" r:id="rId8"/>
    <p:sldId id="261" r:id="rId9"/>
    <p:sldId id="262" r:id="rId10"/>
    <p:sldId id="263" r:id="rId11"/>
    <p:sldId id="264" r:id="rId12"/>
    <p:sldId id="286" r:id="rId13"/>
    <p:sldId id="265" r:id="rId14"/>
    <p:sldId id="266" r:id="rId15"/>
    <p:sldId id="267" r:id="rId16"/>
    <p:sldId id="280" r:id="rId17"/>
    <p:sldId id="281" r:id="rId18"/>
    <p:sldId id="268" r:id="rId19"/>
    <p:sldId id="282" r:id="rId20"/>
    <p:sldId id="269" r:id="rId21"/>
    <p:sldId id="289" r:id="rId22"/>
    <p:sldId id="288" r:id="rId23"/>
    <p:sldId id="270" r:id="rId24"/>
    <p:sldId id="287" r:id="rId25"/>
    <p:sldId id="271" r:id="rId26"/>
    <p:sldId id="273" r:id="rId27"/>
    <p:sldId id="275" r:id="rId28"/>
    <p:sldId id="274" r:id="rId29"/>
    <p:sldId id="291" r:id="rId30"/>
    <p:sldId id="276" r:id="rId31"/>
    <p:sldId id="277" r:id="rId32"/>
    <p:sldId id="278" r:id="rId33"/>
    <p:sldId id="279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167" autoAdjust="0"/>
    <p:restoredTop sz="93621" autoAdjust="0"/>
  </p:normalViewPr>
  <p:slideViewPr>
    <p:cSldViewPr snapToGrid="0" snapToObjects="1">
      <p:cViewPr varScale="1">
        <p:scale>
          <a:sx n="95" d="100"/>
          <a:sy n="95" d="100"/>
        </p:scale>
        <p:origin x="231" y="4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686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d'accueil. Présentez les deux binômes, le </a:t>
            </a:r>
            <a:r>
              <a:rPr lang="en-US" dirty="0" err="1"/>
              <a:t>directeur</a:t>
            </a:r>
            <a:r>
              <a:rPr lang="en-US" dirty="0"/>
              <a:t> de projet et le cadre de la soutenance.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</a:t>
            </a:r>
            <a:r>
              <a:rPr lang="en-US" dirty="0" err="1"/>
              <a:t>cette</a:t>
            </a:r>
            <a:r>
              <a:rPr lang="en-US" dirty="0"/>
              <a:t> </a:t>
            </a:r>
            <a:r>
              <a:rPr lang="en-US" dirty="0" err="1"/>
              <a:t>présentataion</a:t>
            </a:r>
            <a:r>
              <a:rPr lang="en-US" dirty="0"/>
              <a:t> nous </a:t>
            </a:r>
            <a:r>
              <a:rPr lang="en-US" dirty="0" err="1"/>
              <a:t>avons</a:t>
            </a:r>
            <a:r>
              <a:rPr lang="en-US" dirty="0"/>
              <a:t> 6 sections :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I- Introduction :     </a:t>
            </a:r>
            <a:r>
              <a:rPr lang="fr-FR" sz="1200" i="1" noProof="0" dirty="0">
                <a:solidFill>
                  <a:srgbClr val="8A9AA0"/>
                </a:solidFill>
              </a:rPr>
              <a:t>Contexte, justification, problématique</a:t>
            </a:r>
            <a:r>
              <a:rPr lang="fr-FR" sz="1200" i="1" dirty="0">
                <a:solidFill>
                  <a:srgbClr val="8A9AA0"/>
                </a:solidFill>
              </a:rPr>
              <a:t> et</a:t>
            </a:r>
            <a:r>
              <a:rPr lang="fr-FR" sz="1200" i="1" noProof="0" dirty="0">
                <a:solidFill>
                  <a:srgbClr val="8A9AA0"/>
                </a:solidFill>
              </a:rPr>
              <a:t> objectifs du projet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i="0" noProof="0" dirty="0">
                <a:solidFill>
                  <a:srgbClr val="8A9AA0"/>
                </a:solidFill>
              </a:rPr>
              <a:t>II-</a:t>
            </a:r>
            <a:r>
              <a:rPr lang="fr-FR" sz="1200" i="1" noProof="0" dirty="0">
                <a:solidFill>
                  <a:srgbClr val="8A9AA0"/>
                </a:solidFill>
              </a:rPr>
              <a:t> Structure d’accueil :    Présentation d'Akieni : Historique et Missions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i="0" noProof="0" dirty="0">
                <a:solidFill>
                  <a:srgbClr val="8A9AA0"/>
                </a:solidFill>
              </a:rPr>
              <a:t>III- Méthodologie de travail :   </a:t>
            </a:r>
            <a:r>
              <a:rPr lang="fr-FR" sz="1200" i="1" noProof="0" dirty="0">
                <a:solidFill>
                  <a:srgbClr val="8A9AA0"/>
                </a:solidFill>
              </a:rPr>
              <a:t>2TUP, UML, outils utilisés et étapes de réalisation du projet</a:t>
            </a:r>
            <a:endParaRPr lang="fr-FR" sz="1200" i="0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IV- </a:t>
            </a:r>
            <a:r>
              <a:rPr lang="en-US" dirty="0" err="1"/>
              <a:t>Résulstats</a:t>
            </a:r>
            <a:r>
              <a:rPr lang="en-US" dirty="0"/>
              <a:t> et analyses :    </a:t>
            </a:r>
            <a:r>
              <a:rPr lang="fr-FR" sz="1200" i="1" noProof="0" dirty="0">
                <a:solidFill>
                  <a:srgbClr val="8A9AA0"/>
                </a:solidFill>
              </a:rPr>
              <a:t>Présentation d'Akieni : Historique et Missions</a:t>
            </a:r>
            <a:endParaRPr lang="fr-FR" sz="1200" noProof="0" dirty="0"/>
          </a:p>
          <a:p>
            <a:r>
              <a:rPr lang="en-US" dirty="0"/>
              <a:t>V- </a:t>
            </a:r>
            <a:r>
              <a:rPr lang="en-US" dirty="0" err="1"/>
              <a:t>Démonstration</a:t>
            </a:r>
            <a:r>
              <a:rPr lang="en-US" dirty="0"/>
              <a:t> :    la démonstration sera faite en live sur </a:t>
            </a:r>
            <a:r>
              <a:rPr lang="en-US" dirty="0" err="1"/>
              <a:t>l'application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VI- Conclusion : </a:t>
            </a:r>
            <a:r>
              <a:rPr lang="fr-FR" sz="1200" i="1" noProof="0" dirty="0">
                <a:solidFill>
                  <a:srgbClr val="8A9AA0"/>
                </a:solidFill>
              </a:rPr>
              <a:t>Bilan, perspectives et difficultés rencontrées</a:t>
            </a:r>
            <a:endParaRPr lang="fr-FR" sz="1200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PWA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 qui se </a:t>
            </a:r>
            <a:r>
              <a:rPr lang="en-US" dirty="0" err="1"/>
              <a:t>comporte</a:t>
            </a:r>
            <a:r>
              <a:rPr lang="en-US" dirty="0"/>
              <a:t> </a:t>
            </a:r>
            <a:r>
              <a:rPr lang="en-US" dirty="0" err="1"/>
              <a:t>comme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appli</a:t>
            </a:r>
            <a:r>
              <a:rPr lang="en-US" dirty="0"/>
              <a:t> mobile </a:t>
            </a:r>
            <a:r>
              <a:rPr lang="en-US" dirty="0" err="1"/>
              <a:t>ou</a:t>
            </a:r>
            <a:r>
              <a:rPr lang="en-US" dirty="0"/>
              <a:t> desktop,, Elle combine la </a:t>
            </a:r>
            <a:r>
              <a:rPr lang="en-US" dirty="0" err="1"/>
              <a:t>simplicité</a:t>
            </a:r>
            <a:r>
              <a:rPr lang="en-US" dirty="0"/>
              <a:t> du web et la </a:t>
            </a:r>
            <a:r>
              <a:rPr lang="en-US" dirty="0" err="1"/>
              <a:t>fluidité</a:t>
            </a:r>
            <a:r>
              <a:rPr lang="en-US" dirty="0"/>
              <a:t> des applications </a:t>
            </a:r>
            <a:r>
              <a:rPr lang="en-US" dirty="0" err="1"/>
              <a:t>installables</a:t>
            </a:r>
            <a:endParaRPr lang="en-US" dirty="0"/>
          </a:p>
          <a:p>
            <a:r>
              <a:rPr lang="en-US" dirty="0"/>
              <a:t>La PWA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developpée</a:t>
            </a:r>
            <a:r>
              <a:rPr lang="en-US" dirty="0"/>
              <a:t> avec des techno standards du web (HTML/CSS/JS), </a:t>
            </a:r>
            <a:r>
              <a:rPr lang="en-US" dirty="0" err="1"/>
              <a:t>elle</a:t>
            </a:r>
            <a:r>
              <a:rPr lang="en-US" dirty="0"/>
              <a:t> </a:t>
            </a:r>
            <a:r>
              <a:rPr lang="en-US" dirty="0" err="1"/>
              <a:t>focnionne</a:t>
            </a:r>
            <a:r>
              <a:rPr lang="en-US" dirty="0"/>
              <a:t> sur </a:t>
            </a:r>
            <a:r>
              <a:rPr lang="en-US" dirty="0" err="1"/>
              <a:t>tous</a:t>
            </a:r>
            <a:r>
              <a:rPr lang="en-US" dirty="0"/>
              <a:t> les </a:t>
            </a:r>
            <a:r>
              <a:rPr lang="en-US" dirty="0" err="1"/>
              <a:t>appareils</a:t>
            </a:r>
            <a:r>
              <a:rPr lang="en-US" dirty="0"/>
              <a:t> via un </a:t>
            </a:r>
            <a:r>
              <a:rPr lang="en-US" dirty="0" err="1"/>
              <a:t>navigateur</a:t>
            </a:r>
            <a:r>
              <a:rPr lang="en-US" dirty="0"/>
              <a:t>, avec des </a:t>
            </a:r>
            <a:r>
              <a:rPr lang="en-US" dirty="0" err="1"/>
              <a:t>coûts</a:t>
            </a:r>
            <a:r>
              <a:rPr lang="en-US" dirty="0"/>
              <a:t> de dev </a:t>
            </a:r>
            <a:r>
              <a:rPr lang="en-US" dirty="0" err="1"/>
              <a:t>réduits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Portail</a:t>
            </a:r>
            <a:r>
              <a:rPr lang="en-US" dirty="0"/>
              <a:t> web : site internet </a:t>
            </a:r>
            <a:r>
              <a:rPr lang="en-US" dirty="0" err="1"/>
              <a:t>centralisé</a:t>
            </a:r>
            <a:r>
              <a:rPr lang="en-US" dirty="0"/>
              <a:t>, </a:t>
            </a:r>
            <a:r>
              <a:rPr lang="en-US" dirty="0" err="1"/>
              <a:t>permettant</a:t>
            </a:r>
            <a:r>
              <a:rPr lang="en-US" dirty="0"/>
              <a:t> </a:t>
            </a:r>
            <a:r>
              <a:rPr lang="en-US" dirty="0" err="1"/>
              <a:t>d’accéder</a:t>
            </a:r>
            <a:r>
              <a:rPr lang="en-US" dirty="0"/>
              <a:t> à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diverses</a:t>
            </a:r>
            <a:r>
              <a:rPr lang="en-US" dirty="0"/>
              <a:t> </a:t>
            </a:r>
            <a:r>
              <a:rPr lang="en-US" dirty="0" err="1"/>
              <a:t>ressources</a:t>
            </a:r>
            <a:r>
              <a:rPr lang="en-US" dirty="0"/>
              <a:t>, services et </a:t>
            </a:r>
            <a:r>
              <a:rPr lang="en-US" dirty="0" err="1"/>
              <a:t>informations</a:t>
            </a:r>
            <a:br>
              <a:rPr lang="en-US" dirty="0"/>
            </a:br>
            <a:r>
              <a:rPr lang="en-US" dirty="0"/>
              <a:t>un </a:t>
            </a:r>
            <a:r>
              <a:rPr lang="en-US" dirty="0" err="1"/>
              <a:t>portail</a:t>
            </a:r>
            <a:r>
              <a:rPr lang="en-US" dirty="0"/>
              <a:t> </a:t>
            </a:r>
            <a:r>
              <a:rPr lang="en-US" dirty="0" err="1"/>
              <a:t>peut</a:t>
            </a:r>
            <a:r>
              <a:rPr lang="en-US" dirty="0"/>
              <a:t> </a:t>
            </a:r>
            <a:r>
              <a:rPr lang="en-US" dirty="0" err="1"/>
              <a:t>regrouper</a:t>
            </a:r>
            <a:r>
              <a:rPr lang="en-US" dirty="0"/>
              <a:t> de la </a:t>
            </a:r>
            <a:r>
              <a:rPr lang="en-US" dirty="0" err="1"/>
              <a:t>messagerie</a:t>
            </a:r>
            <a:r>
              <a:rPr lang="en-US" dirty="0"/>
              <a:t>, des </a:t>
            </a:r>
            <a:r>
              <a:rPr lang="en-US" dirty="0" err="1"/>
              <a:t>actualités</a:t>
            </a:r>
            <a:r>
              <a:rPr lang="en-US" dirty="0"/>
              <a:t>, la </a:t>
            </a:r>
            <a:r>
              <a:rPr lang="en-US" dirty="0" err="1"/>
              <a:t>méteo</a:t>
            </a:r>
            <a:r>
              <a:rPr lang="en-US" dirty="0"/>
              <a:t> et un </a:t>
            </a:r>
            <a:r>
              <a:rPr lang="en-US" dirty="0" err="1"/>
              <a:t>moteur</a:t>
            </a:r>
            <a:r>
              <a:rPr lang="en-US" dirty="0"/>
              <a:t> de recherche</a:t>
            </a:r>
          </a:p>
          <a:p>
            <a:r>
              <a:rPr lang="en-US" dirty="0"/>
              <a:t>Par </a:t>
            </a:r>
            <a:r>
              <a:rPr lang="en-US" dirty="0" err="1"/>
              <a:t>exemple</a:t>
            </a:r>
            <a:r>
              <a:rPr lang="en-US" dirty="0"/>
              <a:t> : des intranets </a:t>
            </a:r>
            <a:r>
              <a:rPr lang="en-US" dirty="0" err="1"/>
              <a:t>d’entreprise</a:t>
            </a:r>
            <a:r>
              <a:rPr lang="en-US" dirty="0"/>
              <a:t> pour </a:t>
            </a:r>
            <a:r>
              <a:rPr lang="en-US" dirty="0" err="1"/>
              <a:t>messagerie</a:t>
            </a:r>
            <a:r>
              <a:rPr lang="en-US" dirty="0"/>
              <a:t>, les RH et les </a:t>
            </a:r>
            <a:r>
              <a:rPr lang="en-US" dirty="0" err="1"/>
              <a:t>outils</a:t>
            </a:r>
            <a:r>
              <a:rPr lang="en-US" dirty="0"/>
              <a:t> métiers</a:t>
            </a:r>
          </a:p>
          <a:p>
            <a:endParaRPr lang="en-US" dirty="0"/>
          </a:p>
          <a:p>
            <a:r>
              <a:rPr lang="en-US" dirty="0"/>
              <a:t>Mobile-first : dev qui </a:t>
            </a:r>
            <a:r>
              <a:rPr lang="en-US" dirty="0" err="1"/>
              <a:t>priorise</a:t>
            </a:r>
            <a:r>
              <a:rPr lang="en-US" dirty="0"/>
              <a:t> le </a:t>
            </a:r>
            <a:r>
              <a:rPr lang="en-US" dirty="0" err="1"/>
              <a:t>confort</a:t>
            </a:r>
            <a:r>
              <a:rPr lang="en-US" dirty="0"/>
              <a:t> sur mobile,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developpant</a:t>
            </a:r>
            <a:r>
              <a:rPr lang="en-US" dirty="0"/>
              <a:t>, on </a:t>
            </a:r>
            <a:r>
              <a:rPr lang="en-US" dirty="0" err="1"/>
              <a:t>pense</a:t>
            </a:r>
            <a:r>
              <a:rPr lang="en-US" dirty="0"/>
              <a:t> </a:t>
            </a:r>
            <a:r>
              <a:rPr lang="en-US" dirty="0" err="1"/>
              <a:t>d’abord</a:t>
            </a:r>
            <a:r>
              <a:rPr lang="en-US" dirty="0"/>
              <a:t> aux petits </a:t>
            </a:r>
            <a:r>
              <a:rPr lang="en-US" dirty="0" err="1"/>
              <a:t>écrans</a:t>
            </a:r>
            <a:r>
              <a:rPr lang="en-US" dirty="0"/>
              <a:t>, </a:t>
            </a:r>
            <a:r>
              <a:rPr lang="en-US" dirty="0" err="1"/>
              <a:t>C’est</a:t>
            </a:r>
            <a:r>
              <a:rPr lang="en-US" dirty="0"/>
              <a:t> </a:t>
            </a:r>
            <a:r>
              <a:rPr lang="en-US" dirty="0" err="1"/>
              <a:t>l’inverse</a:t>
            </a:r>
            <a:r>
              <a:rPr lang="en-US" dirty="0"/>
              <a:t> du Responsive Design qui part de </a:t>
            </a:r>
            <a:r>
              <a:rPr lang="en-US" dirty="0" err="1"/>
              <a:t>l’ordi</a:t>
            </a:r>
            <a:r>
              <a:rPr lang="en-US" dirty="0"/>
              <a:t> pour </a:t>
            </a:r>
            <a:r>
              <a:rPr lang="en-US" dirty="0" err="1"/>
              <a:t>réduire</a:t>
            </a:r>
            <a:r>
              <a:rPr lang="en-US" dirty="0"/>
              <a:t> </a:t>
            </a:r>
            <a:r>
              <a:rPr lang="en-US" dirty="0" err="1"/>
              <a:t>l’app</a:t>
            </a:r>
            <a:r>
              <a:rPr lang="en-US" dirty="0"/>
              <a:t> </a:t>
            </a:r>
            <a:r>
              <a:rPr lang="en-US" dirty="0" err="1"/>
              <a:t>vers</a:t>
            </a:r>
            <a:r>
              <a:rPr lang="en-US" dirty="0"/>
              <a:t> le mobile,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problématique. Présentez clairement la question et vos 4 hypothèses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Présentez Akieni brièvement. Insistez sur leur expertise numérique et leur lien avec le projet SALISA.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B4360-C501-847B-CA24-2C890F1DB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88A79-51B5-BCD1-C12F-59ACF3148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51B239-2F3B-F700-276A-F7AD858C6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Présentez Akieni brièvement. Insistez sur leur expertise numérique et leur lien avec le projet SALISA.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25DC5-AE37-064D-E6A2-8D69384DE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771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du mémoire : organigramme d'Akieni. Expliquez les 5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Expliquez le 2TUP. Deux branches parallèles : fonctionnelle (les besoins) et technique (l'architecture). Elles fusionnent pour produire SALISA.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Présentez la stack technique. Insistez sur PWA, paiement mobile et microservice de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Référence : Figure 24 du mémoire - Diagramme de Gantt. 18 tâches, 5 phases, 167 jours de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1- Expression des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besoins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identification des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acteurs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35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d'utilisation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9 packages, 15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règles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gestion,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besoins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fonctionnels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techniques.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2-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Analyse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conception : production de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les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diagrammes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UML (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contexte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d'utilisation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séquence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activités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classes,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déploiement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via la démarche 2TUP.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3-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Implémentation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développement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du front-end (Next.js), du back-end (Node.js), du microservice de matching (Python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FastAPI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et de la base de données (PostgreSQL).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4- 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Tests via Postman et sur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différents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terminaux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Déploiement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sur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serveur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VPS avec Docker &gt; Maintenance continue avec corrections et </a:t>
            </a:r>
            <a:r>
              <a:rPr lang="en-US" sz="120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améliorations</a:t>
            </a:r>
            <a:r>
              <a:rPr lang="en-US" sz="120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types de besoins : fonctionnels (ce que le système doit faire) et techniques (comment il doit le faire).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5 du mémoire : Diagramme de contexte statique. 4 acteurs humains + 2 acteurs systèmes.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cas d'utilisation au total, organisés en 9 packages. Référence : Figures 6 à 15 du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61557-BAFD-36BC-AE49-D4A483075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5459E-5106-9185-A97A-9B1BD71D4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EC8C4-B74E-D297-3BDC-8DF70C843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diagramme montre les neuf domaines fonctionnels de «SALISA» et leurs relations avec les </a:t>
            </a:r>
            <a:r>
              <a:rPr lang="fr-FR" dirty="0" err="1"/>
              <a:t>acteurs.I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7E77C-36F9-5ECF-96E9-6E4850894C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034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1DEDE-B4A8-4D49-8355-5A83A7B68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41B78A-0B8E-A690-43E5-8F5E4BD5E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925281-1D8B-0B3E-ADD4-BA0984F5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cas d'utilisation au total, organisés en 9 packages. Référence : Figures 6 à 15 du mémoire.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7DF42-BEA3-9730-3EE8-8DB7422D18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2680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16 et 17 du mémoire. DS UC-01 : inscription. DS : envoi devis, paiement et validation 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F96-FAC2-EC2A-C9A5-460B3362C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2C9605-CF22-9F37-7737-116016562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62DBC-7C9B-25DB-3A67-67AD35DD5B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16 et 17 du mémoire. DS UC-01 : inscription. DS : envoi devis, paiement et validation mission.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941A8-0F10-043C-FE15-B5678C5FB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6042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20 du mémoire. Classes principales de SALISA. Commission : 3% du montant total de chaque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91ECD-2979-4996-9527-8CC1D8DB9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C3C0F1-9078-6BDA-0DA7-478589419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3C884-7157-5132-0D43-04A16691E6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20 du mémoire. Classes principales de SALISA. Commission : 3% du montant total de chaque transaction.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D5152-F708-415C-CA9C-EEE7432432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4511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835DE-097F-B1FD-AF50-7D9F49468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1A00A9-AB87-70C5-AC5B-2D60491ED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3B793-4626-84A0-5720-460A4388E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20 du mémoire. Classes principales de SALISA. Commission : 3% du montant total de chaque transaction.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9147-5396-F906-5E6B-521CBBB53B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622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>
                <a:effectLst/>
              </a:rPr>
              <a:t>WSS (WebSocket Secure)</a:t>
            </a:r>
            <a:r>
              <a:rPr lang="fr-FR" dirty="0">
                <a:effectLst/>
              </a:rPr>
              <a:t> : protocole de communication temps réel, comme HTTPS mais pour </a:t>
            </a:r>
            <a:r>
              <a:rPr lang="fr-FR" dirty="0" err="1">
                <a:effectLst/>
              </a:rPr>
              <a:t>WebSockets</a:t>
            </a:r>
            <a:r>
              <a:rPr lang="fr-FR" dirty="0">
                <a:effectLst/>
              </a:rPr>
              <a:t>. Il permet une connexion persistante et sécurisée entre client et serveur (utile pour chat, notifications, mises à jour instantanées).</a:t>
            </a:r>
            <a:endParaRPr lang="fr-FR" dirty="0"/>
          </a:p>
          <a:p>
            <a:r>
              <a:rPr lang="fr-FR" b="1" dirty="0">
                <a:effectLst/>
              </a:rPr>
              <a:t>CDN (Content Delivery Network)</a:t>
            </a:r>
            <a:r>
              <a:rPr lang="fr-FR" dirty="0">
                <a:effectLst/>
              </a:rPr>
              <a:t> : réseau de serveurs répartis géographiquement qui distribue les fichiers statiques (images, vidéos, CSS, JS). Ça accélère le chargement et réduit la charge sur ton serveur principal.</a:t>
            </a:r>
            <a:endParaRPr lang="fr-FR" dirty="0"/>
          </a:p>
          <a:p>
            <a:r>
              <a:rPr lang="fr-FR" b="1" dirty="0">
                <a:effectLst/>
              </a:rPr>
              <a:t>WebSocket</a:t>
            </a:r>
            <a:r>
              <a:rPr lang="fr-FR" dirty="0">
                <a:effectLst/>
              </a:rPr>
              <a:t> : protocole qui garde une connexion ouverte entre client et serveur, contrairement au HTTP classique qui est requête/réponse. Sert au temps réel (chat, jeux en ligne, suivi de transactions).</a:t>
            </a:r>
            <a:endParaRPr lang="fr-FR" dirty="0"/>
          </a:p>
          <a:p>
            <a:r>
              <a:rPr lang="fr-FR" b="1" dirty="0">
                <a:effectLst/>
              </a:rPr>
              <a:t>Socket.io</a:t>
            </a:r>
            <a:r>
              <a:rPr lang="fr-FR" dirty="0">
                <a:effectLst/>
              </a:rPr>
              <a:t> : bibliothèque JavaScript qui simplifie l’utilisation des </a:t>
            </a:r>
            <a:r>
              <a:rPr lang="fr-FR" dirty="0" err="1">
                <a:effectLst/>
              </a:rPr>
              <a:t>WebSockets</a:t>
            </a:r>
            <a:r>
              <a:rPr lang="fr-FR" dirty="0">
                <a:effectLst/>
              </a:rPr>
              <a:t>. Elle gère la compatibilité, la reconnexion automatique, et ajoute des fonctionnalités pratiques (</a:t>
            </a:r>
            <a:r>
              <a:rPr lang="fr-FR" dirty="0" err="1">
                <a:effectLst/>
              </a:rPr>
              <a:t>rooms</a:t>
            </a:r>
            <a:r>
              <a:rPr lang="fr-FR" dirty="0">
                <a:effectLst/>
              </a:rPr>
              <a:t>, broadcast).</a:t>
            </a:r>
          </a:p>
          <a:p>
            <a:endParaRPr lang="fr-FR" dirty="0">
              <a:effectLst/>
            </a:endParaRPr>
          </a:p>
          <a:p>
            <a:r>
              <a:rPr lang="fr-FR" b="1" dirty="0"/>
              <a:t>SSR (Server‑</a:t>
            </a:r>
            <a:r>
              <a:rPr lang="fr-FR" b="1" dirty="0" err="1"/>
              <a:t>Side</a:t>
            </a:r>
            <a:r>
              <a:rPr lang="fr-FR" b="1" dirty="0"/>
              <a:t> Rendering)</a:t>
            </a:r>
          </a:p>
          <a:p>
            <a:r>
              <a:rPr lang="fr-FR" dirty="0">
                <a:effectLst/>
              </a:rPr>
              <a:t>C’est une technique utilisée par </a:t>
            </a:r>
            <a:r>
              <a:rPr lang="fr-FR" b="1" dirty="0">
                <a:effectLst/>
              </a:rPr>
              <a:t>Next.js</a:t>
            </a:r>
            <a:r>
              <a:rPr lang="fr-FR" dirty="0">
                <a:effectLst/>
              </a:rPr>
              <a:t> : au lieu de générer les pages côté navigateur (client), elles sont </a:t>
            </a:r>
            <a:r>
              <a:rPr lang="fr-FR" b="1" dirty="0">
                <a:effectLst/>
              </a:rPr>
              <a:t>rendues côté serveur</a:t>
            </a:r>
            <a:r>
              <a:rPr lang="fr-FR" dirty="0">
                <a:effectLst/>
              </a:rPr>
              <a:t> puis envoyées déjà prêtes au client.</a:t>
            </a:r>
            <a:endParaRPr lang="fr-FR" dirty="0"/>
          </a:p>
          <a:p>
            <a:r>
              <a:rPr lang="fr-FR" dirty="0">
                <a:effectLst/>
              </a:rPr>
              <a:t>Avantages : meilleur SEO, temps de chargement initial plus rapide, contenu </a:t>
            </a:r>
            <a:r>
              <a:rPr lang="fr-FR" dirty="0" err="1">
                <a:effectLst/>
              </a:rPr>
              <a:t>indexable</a:t>
            </a:r>
            <a:r>
              <a:rPr lang="fr-FR" dirty="0">
                <a:effectLst/>
              </a:rPr>
              <a:t> par Google.</a:t>
            </a:r>
            <a:endParaRPr lang="fr-FR" dirty="0"/>
          </a:p>
          <a:p>
            <a:endParaRPr lang="fr-FR" dirty="0"/>
          </a:p>
          <a:p>
            <a:r>
              <a:rPr lang="fr-FR" dirty="0">
                <a:effectLst/>
              </a:rPr>
              <a:t>Redis est une </a:t>
            </a:r>
            <a:r>
              <a:rPr lang="fr-FR" b="1" dirty="0">
                <a:effectLst/>
              </a:rPr>
              <a:t>base de données en mémoire</a:t>
            </a:r>
            <a:r>
              <a:rPr lang="fr-FR" dirty="0">
                <a:effectLst/>
              </a:rPr>
              <a:t> (très rapide).</a:t>
            </a:r>
            <a:endParaRPr lang="fr-FR" dirty="0"/>
          </a:p>
          <a:p>
            <a:r>
              <a:rPr lang="fr-FR" dirty="0">
                <a:effectLst/>
              </a:rPr>
              <a:t>Sert de </a:t>
            </a:r>
            <a:r>
              <a:rPr lang="fr-FR" b="1" dirty="0">
                <a:effectLst/>
              </a:rPr>
              <a:t>cache</a:t>
            </a:r>
            <a:r>
              <a:rPr lang="fr-FR" dirty="0">
                <a:effectLst/>
              </a:rPr>
              <a:t> (stockage temporaire pour accélérer les requêtes).</a:t>
            </a:r>
            <a:endParaRPr lang="fr-FR" dirty="0"/>
          </a:p>
          <a:p>
            <a:r>
              <a:rPr lang="fr-FR" dirty="0">
                <a:effectLst/>
              </a:rPr>
              <a:t>Sert aussi pour les </a:t>
            </a:r>
            <a:r>
              <a:rPr lang="fr-FR" b="1" dirty="0">
                <a:effectLst/>
              </a:rPr>
              <a:t>sessions utilisateurs</a:t>
            </a:r>
            <a:r>
              <a:rPr lang="fr-FR" dirty="0">
                <a:effectLst/>
              </a:rPr>
              <a:t> (authentification, </a:t>
            </a:r>
            <a:r>
              <a:rPr lang="fr-FR" dirty="0" err="1">
                <a:effectLst/>
              </a:rPr>
              <a:t>tokens</a:t>
            </a:r>
            <a:r>
              <a:rPr lang="fr-FR" dirty="0">
                <a:effectLst/>
              </a:rPr>
              <a:t>, données temporaires).</a:t>
            </a:r>
            <a:endParaRPr lang="fr-FR" dirty="0"/>
          </a:p>
          <a:p>
            <a:endParaRPr lang="fr-FR" dirty="0"/>
          </a:p>
          <a:p>
            <a:r>
              <a:rPr lang="fr-FR" dirty="0" err="1">
                <a:effectLst/>
              </a:rPr>
              <a:t>Cloudflare</a:t>
            </a:r>
            <a:r>
              <a:rPr lang="fr-FR" dirty="0">
                <a:effectLst/>
              </a:rPr>
              <a:t> est une société spécialisée dans la </a:t>
            </a:r>
            <a:r>
              <a:rPr lang="fr-FR" b="1" dirty="0">
                <a:effectLst/>
              </a:rPr>
              <a:t>sécurité et la performance web</a:t>
            </a:r>
            <a:r>
              <a:rPr lang="fr-FR" dirty="0">
                <a:effectLst/>
              </a:rPr>
              <a:t>.</a:t>
            </a:r>
            <a:endParaRPr lang="fr-FR" dirty="0"/>
          </a:p>
          <a:p>
            <a:r>
              <a:rPr lang="fr-FR" b="1" dirty="0">
                <a:effectLst/>
              </a:rPr>
              <a:t>R2</a:t>
            </a:r>
            <a:r>
              <a:rPr lang="fr-FR" dirty="0">
                <a:effectLst/>
              </a:rPr>
              <a:t> est leur service de stockage d’objets (équivalent à Amazon S3).</a:t>
            </a:r>
            <a:endParaRPr lang="fr-FR" dirty="0"/>
          </a:p>
          <a:p>
            <a:r>
              <a:rPr lang="fr-FR" dirty="0">
                <a:effectLst/>
              </a:rPr>
              <a:t>Tu y mets tes fichiers statiques (images, documents, vidéos) → </a:t>
            </a:r>
            <a:r>
              <a:rPr lang="fr-FR" dirty="0" err="1">
                <a:effectLst/>
              </a:rPr>
              <a:t>Cloudflare</a:t>
            </a:r>
            <a:r>
              <a:rPr lang="fr-FR" dirty="0">
                <a:effectLst/>
              </a:rPr>
              <a:t> les distribue via son </a:t>
            </a:r>
            <a:r>
              <a:rPr lang="fr-FR" b="1" dirty="0">
                <a:effectLst/>
              </a:rPr>
              <a:t>CDN</a:t>
            </a:r>
            <a:r>
              <a:rPr lang="fr-FR" dirty="0">
                <a:effectLst/>
              </a:rPr>
              <a:t> (serveurs répartis dans le monde).</a:t>
            </a:r>
            <a:endParaRPr lang="fr-FR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D046A-E872-1FCE-F7CA-8DA816132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B6D47-1B75-F465-9416-6D4726A70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27C52D-8B9F-B288-7252-D48F5393C6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20 du mémoire. Classes principales de SALISA. Commission : 3% du montant total de chaque transaction.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42394-8EDC-20E6-A51A-0921CE3AB6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224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règles de gestion au total (RG-001 à RG-015). Présentez les plus importantes notamment la commission à 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Coût total estimé du projet : 4 855 000 FCFA</a:t>
            </a:r>
            <a:endParaRPr lang="fr-FR" sz="1200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que la solution fait bien, et ce qui reste à améliorer. Soyez honnêtes, le jury apprécie la transparence.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vers la démo live. Ouvrez l'application SALISA dans le navigateur. Montrez : inscription, recherche, publication mission, messagerie. Revenez ensuite sur cette présentation pour la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E5CCE-B9C5-0770-D8F8-31E6E4AEF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A08AF-6A50-8E9E-8832-2690324B6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685C26-29E5-170B-24C5-042A6E136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vers la démo live. Ouvrez l'application SALISA dans le navigateur. Montrez : inscription, recherche, publication mission, messagerie. Revenez ensuite sur cette présentation pour la conclusion.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372F1-CEAA-FB78-98F9-197C7B10E4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8419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Localisation</a:t>
            </a:r>
            <a:r>
              <a:rPr lang="fr-FR" dirty="0"/>
              <a:t> - est-ce que le prestataire intervient dans le même arrondissement ou quartier que la mission ? </a:t>
            </a:r>
          </a:p>
          <a:p>
            <a:r>
              <a:rPr lang="fr-FR" b="1" dirty="0"/>
              <a:t>Compétences</a:t>
            </a:r>
            <a:r>
              <a:rPr lang="fr-FR" dirty="0"/>
              <a:t> - est-ce que les compétences déclarées du prestataire correspondent à la catégorie et aux tags de la mission ? </a:t>
            </a:r>
          </a:p>
          <a:p>
            <a:r>
              <a:rPr lang="fr-FR" b="1" dirty="0"/>
              <a:t>Disponibilité</a:t>
            </a:r>
            <a:r>
              <a:rPr lang="fr-FR" dirty="0"/>
              <a:t> - est-ce que le prestataire est disponible dans le délai demandé par le demandeur ? </a:t>
            </a:r>
          </a:p>
          <a:p>
            <a:r>
              <a:rPr lang="fr-FR" b="1" dirty="0"/>
              <a:t>Budget</a:t>
            </a:r>
            <a:r>
              <a:rPr lang="fr-FR" dirty="0"/>
              <a:t> - est-ce que les tarifs du prestataire correspondent à la fourchette de budget indiquée dans la mission ? </a:t>
            </a:r>
          </a:p>
          <a:p>
            <a:r>
              <a:rPr lang="fr-FR" b="1" dirty="0"/>
              <a:t>Note moyenne</a:t>
            </a:r>
            <a:r>
              <a:rPr lang="fr-FR" dirty="0"/>
              <a:t> - quelle est la note moyenne du prestataire sur ses missions précédentes (de 1 à 5 étoiles) ? </a:t>
            </a:r>
          </a:p>
          <a:p>
            <a:r>
              <a:rPr lang="fr-FR" b="1" dirty="0"/>
              <a:t>Fiabilité</a:t>
            </a:r>
            <a:r>
              <a:rPr lang="fr-FR" dirty="0"/>
              <a:t> - quel est le taux de complétion des missions du prestataire, c'est-à-dire combien de missions il a acceptées et menées jusqu'au bout sans annulation ? </a:t>
            </a:r>
          </a:p>
          <a:p>
            <a:r>
              <a:rPr lang="fr-FR" b="1" dirty="0"/>
              <a:t>Temps de réponse</a:t>
            </a:r>
            <a:r>
              <a:rPr lang="fr-FR" dirty="0"/>
              <a:t> - est-ce que le prestataire répond rapidement aux messages et aux devis ? Un prestataire qui répond vite obtient un meilleur score. </a:t>
            </a:r>
          </a:p>
          <a:p>
            <a:r>
              <a:rPr lang="fr-FR" b="1" dirty="0"/>
              <a:t>Niveau de badge</a:t>
            </a:r>
            <a:r>
              <a:rPr lang="fr-FR" dirty="0"/>
              <a:t> - quel est son niveau de certification sur la plateforme ? Un prestataire avec le badge Vérifié ou Pro a un score plus élevé qu'un prestataire sans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Parlez des perspectives avec enthousiasme et des difficultés avec honnêteté. Cela montre la maturité du binôme.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de remerciements. Prenez le temps de citer chaque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Dernière diapositive. Ouvrez la parole au jury. Restez calmes et précis dans vos réponses.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0870" y="-1629312"/>
            <a:ext cx="3657600" cy="3657600"/>
          </a:xfrm>
          <a:prstGeom prst="ellipse">
            <a:avLst/>
          </a:prstGeom>
          <a:solidFill>
            <a:srgbClr val="2A8F5A">
              <a:alpha val="20000"/>
            </a:srgbClr>
          </a:solidFill>
          <a:ln w="12700">
            <a:solidFill>
              <a:srgbClr val="2A8F5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458739" y="3257463"/>
            <a:ext cx="2743200" cy="2743200"/>
          </a:xfrm>
          <a:prstGeom prst="ellipse">
            <a:avLst/>
          </a:prstGeom>
          <a:solidFill>
            <a:srgbClr val="5BBD8A">
              <a:alpha val="15000"/>
            </a:srgbClr>
          </a:solidFill>
          <a:ln w="12700">
            <a:solidFill>
              <a:srgbClr val="5BBD8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fr-FR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13973" y="187452"/>
            <a:ext cx="2716055" cy="700088"/>
          </a:xfrm>
          <a:prstGeom prst="rect">
            <a:avLst/>
          </a:prstGeom>
          <a:noFill/>
          <a:ln/>
        </p:spPr>
        <p:txBody>
          <a:bodyPr wrap="square" rtlCol="0" anchor="ctr">
            <a:scene3d>
              <a:camera prst="orthographicFront"/>
              <a:lightRig rig="threePt" dir="t"/>
            </a:scene3d>
            <a:sp3d extrusionH="57150">
              <a:bevelT w="82550" h="38100" prst="coolSlant"/>
            </a:sp3d>
          </a:bodyPr>
          <a:lstStyle/>
          <a:p>
            <a:pPr marL="0" indent="0" algn="ctr">
              <a:buNone/>
            </a:pPr>
            <a:r>
              <a:rPr lang="fr-FR" sz="4000" b="1" kern="0" noProof="0" dirty="0">
                <a:ln w="12700" cmpd="sng">
                  <a:solidFill>
                    <a:schemeClr val="accent4"/>
                  </a:solidFill>
                  <a:prstDash val="solid"/>
                </a:ln>
                <a:solidFill>
                  <a:schemeClr val="accent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SALISA</a:t>
            </a:r>
            <a:endParaRPr lang="fr-FR" sz="7200" noProof="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86000" y="3325667"/>
            <a:ext cx="4572000" cy="0"/>
          </a:xfrm>
          <a:prstGeom prst="line">
            <a:avLst/>
          </a:prstGeom>
          <a:noFill/>
          <a:ln w="1905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-438513" y="3543393"/>
            <a:ext cx="4141725" cy="10475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2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Présenté et soutenu publiquement par :</a:t>
            </a:r>
          </a:p>
          <a:p>
            <a:pPr algn="ctr"/>
            <a:endParaRPr lang="fr-FR" sz="12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fr-FR" sz="1200" b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M. Grâce Deo BATA</a:t>
            </a:r>
          </a:p>
          <a:p>
            <a:pPr lvl="1"/>
            <a:r>
              <a:rPr lang="fr-FR" sz="1200" b="1" i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&amp;</a:t>
            </a:r>
          </a:p>
          <a:p>
            <a:pPr lvl="1"/>
            <a:r>
              <a:rPr lang="fr-FR" sz="1200" b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M. Christophe Darly MASSAMBA BOUESSO</a:t>
            </a:r>
          </a:p>
        </p:txBody>
      </p:sp>
      <p:sp>
        <p:nvSpPr>
          <p:cNvPr id="12" name="Text 10"/>
          <p:cNvSpPr/>
          <p:nvPr/>
        </p:nvSpPr>
        <p:spPr>
          <a:xfrm>
            <a:off x="6567025" y="3543393"/>
            <a:ext cx="2743200" cy="887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Sous la supervision de : </a:t>
            </a:r>
          </a:p>
          <a:p>
            <a:pPr marL="0" indent="0" algn="ctr">
              <a:buNone/>
            </a:pPr>
            <a:endParaRPr lang="fr-FR" sz="12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fr-FR" sz="1200" b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M. Ornel Djenifer KIGOMA</a:t>
            </a:r>
          </a:p>
          <a:p>
            <a:pPr marL="0" indent="0" algn="ctr">
              <a:buNone/>
            </a:pPr>
            <a:r>
              <a:rPr lang="fr-FR" sz="1200" i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Ingénieur Informaticien</a:t>
            </a:r>
          </a:p>
        </p:txBody>
      </p:sp>
      <p:sp>
        <p:nvSpPr>
          <p:cNvPr id="13" name="Text 11"/>
          <p:cNvSpPr/>
          <p:nvPr/>
        </p:nvSpPr>
        <p:spPr>
          <a:xfrm>
            <a:off x="457200" y="4678125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Année académique : 2025-2026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CE4434AC-AD58-0505-33EB-135CD2746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642" y="180778"/>
            <a:ext cx="1939158" cy="7772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15" name="Text 13"/>
          <p:cNvSpPr/>
          <p:nvPr/>
        </p:nvSpPr>
        <p:spPr>
          <a:xfrm>
            <a:off x="609252" y="1208929"/>
            <a:ext cx="7925496" cy="646331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algn="ctr"/>
            <a:r>
              <a:rPr lang="fr-FR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Soutenance </a:t>
            </a:r>
            <a:r>
              <a:rPr lang="fr-FR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vue de l’obtention du diplôme de Licence Professionnelle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Parcours : </a:t>
            </a:r>
            <a:r>
              <a:rPr lang="fr-FR" i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Génie Logiciel</a:t>
            </a:r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DA7468E4-C65E-C1EF-E160-BE3A8CDFC8BA}"/>
              </a:ext>
            </a:extLst>
          </p:cNvPr>
          <p:cNvGrpSpPr/>
          <p:nvPr/>
        </p:nvGrpSpPr>
        <p:grpSpPr>
          <a:xfrm>
            <a:off x="509587" y="2036433"/>
            <a:ext cx="8124826" cy="1070635"/>
            <a:chOff x="509587" y="2095287"/>
            <a:chExt cx="8124826" cy="952926"/>
          </a:xfrm>
        </p:grpSpPr>
        <p:sp>
          <p:nvSpPr>
            <p:cNvPr id="14" name="Shape 12"/>
            <p:cNvSpPr/>
            <p:nvPr/>
          </p:nvSpPr>
          <p:spPr>
            <a:xfrm>
              <a:off x="509588" y="2095287"/>
              <a:ext cx="8124825" cy="952926"/>
            </a:xfrm>
            <a:prstGeom prst="roundRect">
              <a:avLst>
                <a:gd name="adj" fmla="val 39444"/>
              </a:avLst>
            </a:prstGeom>
            <a:solidFill>
              <a:srgbClr val="2A8F5A">
                <a:alpha val="70000"/>
              </a:srgbClr>
            </a:solidFill>
            <a:ln w="12700">
              <a:solidFill>
                <a:srgbClr val="2A8F5A"/>
              </a:solidFill>
              <a:prstDash val="solid"/>
            </a:ln>
          </p:spPr>
          <p:txBody>
            <a:bodyPr>
              <a:noAutofit/>
            </a:bodyPr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09587" y="2201931"/>
              <a:ext cx="8124824" cy="739634"/>
            </a:xfrm>
            <a:prstGeom prst="rect">
              <a:avLst/>
            </a:prstGeom>
            <a:noFill/>
            <a:ln/>
          </p:spPr>
          <p:txBody>
            <a:bodyPr wrap="square" rtlCol="0" anchor="ctr">
              <a:spAutoFit/>
            </a:bodyPr>
            <a:lstStyle/>
            <a:p>
              <a:pPr marL="0" indent="0" algn="ctr">
                <a:buNone/>
              </a:pPr>
              <a:r>
                <a:rPr lang="fr-FR" sz="16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THÈME :</a:t>
              </a:r>
              <a:br>
                <a:rPr lang="fr-FR" sz="1600" b="1" i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fr-FR" sz="1600" b="1" i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Conception et réalisation d’une application cross‐plateforme de mise en relation entre prestataires et clients pour services professionnels à Akieni</a:t>
              </a:r>
              <a:endParaRPr lang="fr-FR" sz="1600" b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CAAF006E-93F9-A43D-AC48-7BFCEACDC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588" y="186350"/>
            <a:ext cx="1939158" cy="76614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/>
            <a:lightRig rig="threePt" dir="t"/>
          </a:scene3d>
          <a:sp3d>
            <a:bevelT/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800" b="1" noProof="0" dirty="0">
                <a:solidFill>
                  <a:srgbClr val="1A2E2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Plan de la présentation</a:t>
            </a:r>
            <a:endParaRPr lang="fr-F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D9767FA9-8FFE-1F00-55B3-C0AB9E121FC4}"/>
              </a:ext>
            </a:extLst>
          </p:cNvPr>
          <p:cNvGrpSpPr/>
          <p:nvPr/>
        </p:nvGrpSpPr>
        <p:grpSpPr>
          <a:xfrm>
            <a:off x="365760" y="960120"/>
            <a:ext cx="4114800" cy="1078992"/>
            <a:chOff x="365760" y="960120"/>
            <a:chExt cx="4114800" cy="1078992"/>
          </a:xfrm>
        </p:grpSpPr>
        <p:sp>
          <p:nvSpPr>
            <p:cNvPr id="3" name="Shape 1"/>
            <p:cNvSpPr/>
            <p:nvPr/>
          </p:nvSpPr>
          <p:spPr>
            <a:xfrm>
              <a:off x="365760" y="960120"/>
              <a:ext cx="4114800" cy="107899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502920" y="1216152"/>
              <a:ext cx="530352" cy="53035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Text 3"/>
            <p:cNvSpPr/>
            <p:nvPr/>
          </p:nvSpPr>
          <p:spPr>
            <a:xfrm>
              <a:off x="502920" y="1216152"/>
              <a:ext cx="530352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1170432" y="1329863"/>
              <a:ext cx="3154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766ADFE8-02E3-4897-A962-C7325FAB4DBA}"/>
              </a:ext>
            </a:extLst>
          </p:cNvPr>
          <p:cNvGrpSpPr/>
          <p:nvPr/>
        </p:nvGrpSpPr>
        <p:grpSpPr>
          <a:xfrm>
            <a:off x="4754880" y="960120"/>
            <a:ext cx="4114800" cy="1078992"/>
            <a:chOff x="4754880" y="960120"/>
            <a:chExt cx="4114800" cy="1078992"/>
          </a:xfrm>
        </p:grpSpPr>
        <p:sp>
          <p:nvSpPr>
            <p:cNvPr id="8" name="Shape 6"/>
            <p:cNvSpPr/>
            <p:nvPr/>
          </p:nvSpPr>
          <p:spPr>
            <a:xfrm>
              <a:off x="4754880" y="960120"/>
              <a:ext cx="4114800" cy="107899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892040" y="1216152"/>
              <a:ext cx="530352" cy="53035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4892040" y="1216152"/>
              <a:ext cx="530352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II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5568696" y="1307592"/>
              <a:ext cx="3154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Structure d'accueil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9EA141B5-7176-BC9E-9C6B-7A6E7D2B5EEF}"/>
              </a:ext>
            </a:extLst>
          </p:cNvPr>
          <p:cNvGrpSpPr/>
          <p:nvPr/>
        </p:nvGrpSpPr>
        <p:grpSpPr>
          <a:xfrm>
            <a:off x="365760" y="2221992"/>
            <a:ext cx="4114800" cy="1078992"/>
            <a:chOff x="365760" y="2221992"/>
            <a:chExt cx="4114800" cy="1078992"/>
          </a:xfrm>
        </p:grpSpPr>
        <p:sp>
          <p:nvSpPr>
            <p:cNvPr id="13" name="Shape 11"/>
            <p:cNvSpPr/>
            <p:nvPr/>
          </p:nvSpPr>
          <p:spPr>
            <a:xfrm>
              <a:off x="365760" y="2221992"/>
              <a:ext cx="4114800" cy="107899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02920" y="2478024"/>
              <a:ext cx="530352" cy="53035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502920" y="2478024"/>
              <a:ext cx="530352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III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170432" y="2587752"/>
              <a:ext cx="3154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Méthodologie de travail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3774DE-82BE-6B70-7C57-D009FB56A138}"/>
              </a:ext>
            </a:extLst>
          </p:cNvPr>
          <p:cNvGrpSpPr/>
          <p:nvPr/>
        </p:nvGrpSpPr>
        <p:grpSpPr>
          <a:xfrm>
            <a:off x="4754880" y="2221992"/>
            <a:ext cx="4114800" cy="1078992"/>
            <a:chOff x="4754880" y="2221992"/>
            <a:chExt cx="4114800" cy="1078992"/>
          </a:xfrm>
        </p:grpSpPr>
        <p:sp>
          <p:nvSpPr>
            <p:cNvPr id="18" name="Shape 16"/>
            <p:cNvSpPr/>
            <p:nvPr/>
          </p:nvSpPr>
          <p:spPr>
            <a:xfrm>
              <a:off x="4754880" y="2221992"/>
              <a:ext cx="4114800" cy="107899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892040" y="2478024"/>
              <a:ext cx="530352" cy="53035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4892040" y="2478024"/>
              <a:ext cx="530352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IV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5568696" y="2569464"/>
              <a:ext cx="3154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Résultats et analyse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7822E0C-83D2-F2E6-BF58-621C35CEF38A}"/>
              </a:ext>
            </a:extLst>
          </p:cNvPr>
          <p:cNvGrpSpPr/>
          <p:nvPr/>
        </p:nvGrpSpPr>
        <p:grpSpPr>
          <a:xfrm>
            <a:off x="365760" y="3483864"/>
            <a:ext cx="4114800" cy="1078992"/>
            <a:chOff x="365760" y="3483864"/>
            <a:chExt cx="4114800" cy="1078992"/>
          </a:xfrm>
        </p:grpSpPr>
        <p:sp>
          <p:nvSpPr>
            <p:cNvPr id="23" name="Shape 21"/>
            <p:cNvSpPr/>
            <p:nvPr/>
          </p:nvSpPr>
          <p:spPr>
            <a:xfrm>
              <a:off x="365760" y="3483864"/>
              <a:ext cx="4114800" cy="107899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502920" y="3739896"/>
              <a:ext cx="530352" cy="53035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502920" y="3739896"/>
              <a:ext cx="530352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1170432" y="3849624"/>
              <a:ext cx="3154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Démonstration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BD82AE46-0942-7856-8E5B-0AF78950D5CD}"/>
              </a:ext>
            </a:extLst>
          </p:cNvPr>
          <p:cNvGrpSpPr/>
          <p:nvPr/>
        </p:nvGrpSpPr>
        <p:grpSpPr>
          <a:xfrm>
            <a:off x="4754880" y="3483864"/>
            <a:ext cx="4114800" cy="1078992"/>
            <a:chOff x="4754880" y="3483864"/>
            <a:chExt cx="4114800" cy="1078992"/>
          </a:xfrm>
        </p:grpSpPr>
        <p:sp>
          <p:nvSpPr>
            <p:cNvPr id="28" name="Shape 26"/>
            <p:cNvSpPr/>
            <p:nvPr/>
          </p:nvSpPr>
          <p:spPr>
            <a:xfrm>
              <a:off x="4754880" y="3483864"/>
              <a:ext cx="4114800" cy="107899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892040" y="3739896"/>
              <a:ext cx="530352" cy="53035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4892040" y="3739896"/>
              <a:ext cx="530352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5568696" y="3831336"/>
              <a:ext cx="3154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25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I. Introduction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Contexte et justification du projet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3B9E1755-4F58-6968-0706-4F253C2CF311}"/>
              </a:ext>
            </a:extLst>
          </p:cNvPr>
          <p:cNvGrpSpPr/>
          <p:nvPr/>
        </p:nvGrpSpPr>
        <p:grpSpPr>
          <a:xfrm>
            <a:off x="274320" y="1200752"/>
            <a:ext cx="4114800" cy="3520440"/>
            <a:chOff x="274320" y="1051560"/>
            <a:chExt cx="4114800" cy="3520440"/>
          </a:xfrm>
        </p:grpSpPr>
        <p:sp>
          <p:nvSpPr>
            <p:cNvPr id="5" name="Shape 3"/>
            <p:cNvSpPr/>
            <p:nvPr/>
          </p:nvSpPr>
          <p:spPr>
            <a:xfrm>
              <a:off x="274320" y="1051560"/>
              <a:ext cx="4114800" cy="3520440"/>
            </a:xfrm>
            <a:prstGeom prst="roundRect">
              <a:avLst>
                <a:gd name="adj" fmla="val 3117"/>
              </a:avLst>
            </a:prstGeom>
            <a:solidFill>
              <a:srgbClr val="F7F9F8"/>
            </a:solidFill>
            <a:ln w="12700">
              <a:noFill/>
              <a:prstDash val="solid"/>
            </a:ln>
            <a:effectLst>
              <a:glow rad="63500">
                <a:schemeClr val="accent6">
                  <a:satMod val="175000"/>
                  <a:alpha val="40000"/>
                </a:schemeClr>
              </a:glow>
              <a:outerShdw blurRad="149987" dist="250190" dir="8460000" algn="ctr">
                <a:srgbClr val="000000">
                  <a:alpha val="28000"/>
                </a:srgbClr>
              </a:outerShdw>
            </a:effectLst>
            <a:scene3d>
              <a:camera prst="orthographicFront">
                <a:rot lat="0" lon="0" rev="0"/>
              </a:camera>
              <a:lightRig rig="contrasting" dir="t">
                <a:rot lat="0" lon="0" rev="1500000"/>
              </a:lightRig>
            </a:scene3d>
            <a:sp3d prstMaterial="metal">
              <a:bevelT w="88900" h="88900"/>
            </a:sp3d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457200" y="1188720"/>
              <a:ext cx="37490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 constat sur le terrain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57200" y="1737360"/>
              <a:ext cx="228600" cy="228600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804672" y="1691640"/>
              <a:ext cx="33832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Des milliers de prestataires qualifiés à Brazzaville sans visibilité numérique</a:t>
              </a:r>
              <a:endParaRPr lang="fr-FR" sz="11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57200" y="2267712"/>
              <a:ext cx="228600" cy="228600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804672" y="2221992"/>
              <a:ext cx="33832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Les clients trouvent difficilement un prestataire fiable et disponible</a:t>
              </a:r>
              <a:endParaRPr lang="fr-FR" sz="11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57200" y="2798064"/>
              <a:ext cx="228600" cy="228600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804672" y="2752344"/>
              <a:ext cx="33832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Les échanges reposent encore sur le bouche-à-oreille</a:t>
              </a:r>
              <a:endParaRPr lang="fr-FR" sz="11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457200" y="3328416"/>
              <a:ext cx="228600" cy="228600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804672" y="3282696"/>
              <a:ext cx="3383280" cy="365760"/>
            </a:xfrm>
            <a:prstGeom prst="rect">
              <a:avLst/>
            </a:prstGeom>
            <a:noFill/>
            <a:ln/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Aucune sécurité financière ni garantie de qualité pour les deux parties</a:t>
              </a:r>
              <a:endParaRPr lang="fr-FR" sz="11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457200" y="3858768"/>
              <a:ext cx="228600" cy="228600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04672" y="3813048"/>
              <a:ext cx="338328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Absence totale de traçabilité des missions réalisées</a:t>
              </a:r>
              <a:endParaRPr lang="fr-FR" sz="11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57212F9-2A34-5D02-8755-A4E3B9FF1A6F}"/>
              </a:ext>
            </a:extLst>
          </p:cNvPr>
          <p:cNvGrpSpPr/>
          <p:nvPr/>
        </p:nvGrpSpPr>
        <p:grpSpPr>
          <a:xfrm>
            <a:off x="4663440" y="1200752"/>
            <a:ext cx="4114800" cy="3520440"/>
            <a:chOff x="4663440" y="1051560"/>
            <a:chExt cx="4114800" cy="3520440"/>
          </a:xfrm>
        </p:grpSpPr>
        <p:sp>
          <p:nvSpPr>
            <p:cNvPr id="17" name="Shape 15"/>
            <p:cNvSpPr/>
            <p:nvPr/>
          </p:nvSpPr>
          <p:spPr>
            <a:xfrm>
              <a:off x="4663440" y="1051560"/>
              <a:ext cx="4114800" cy="3520440"/>
            </a:xfrm>
            <a:prstGeom prst="roundRect">
              <a:avLst>
                <a:gd name="adj" fmla="val 3117"/>
              </a:avLst>
            </a:prstGeom>
            <a:solidFill>
              <a:srgbClr val="E8F5EE"/>
            </a:solidFill>
            <a:ln w="12700">
              <a:noFill/>
              <a:prstDash val="solid"/>
            </a:ln>
            <a:effectLst>
              <a:glow rad="139700">
                <a:schemeClr val="accent6">
                  <a:satMod val="175000"/>
                  <a:alpha val="40000"/>
                </a:schemeClr>
              </a:glow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4846320" y="1188720"/>
              <a:ext cx="37490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 réponse : SALISA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4846320" y="1691640"/>
              <a:ext cx="37490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SALISA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est une application web cross-plateforme de type PWA, née pour répondre à ce besoin.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4846320" y="2423160"/>
              <a:ext cx="37490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i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Ko </a:t>
              </a:r>
              <a:r>
                <a:rPr lang="fr-FR" sz="1300" b="1" i="1" noProof="0" dirty="0" err="1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salisa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4846320" y="2743200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 lingala :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4846320" y="301752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"Aider" (pour le prestataire)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4846320" y="3310128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"Faire faire" (pour le demandeur)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4846320" y="3794760"/>
              <a:ext cx="3749040" cy="594360"/>
            </a:xfrm>
            <a:prstGeom prst="roundRect">
              <a:avLst>
                <a:gd name="adj" fmla="val 15385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4846320" y="3794760"/>
              <a:ext cx="374904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3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Objectif : Digitaliser la mise en relation à Brazzaville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1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I. Introduction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solution SALISA - Vue d'ensemble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A2E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Choix de la solution parmi 3 options envisagées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AB1D7045-62BF-B294-745B-F3474ACBE0EC}"/>
              </a:ext>
            </a:extLst>
          </p:cNvPr>
          <p:cNvGrpSpPr/>
          <p:nvPr/>
        </p:nvGrpSpPr>
        <p:grpSpPr>
          <a:xfrm>
            <a:off x="457200" y="1463040"/>
            <a:ext cx="2560320" cy="1828800"/>
            <a:chOff x="457200" y="1463040"/>
            <a:chExt cx="2560320" cy="1828800"/>
          </a:xfrm>
        </p:grpSpPr>
        <p:sp>
          <p:nvSpPr>
            <p:cNvPr id="6" name="Shape 4"/>
            <p:cNvSpPr/>
            <p:nvPr/>
          </p:nvSpPr>
          <p:spPr>
            <a:xfrm>
              <a:off x="457200" y="1463040"/>
              <a:ext cx="2560320" cy="1828800"/>
            </a:xfrm>
            <a:prstGeom prst="roundRect">
              <a:avLst>
                <a:gd name="adj" fmla="val 6000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1463040"/>
              <a:ext cx="25603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200" b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1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548640" y="1920240"/>
              <a:ext cx="237744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200" b="1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Portail web simple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2286000"/>
              <a:ext cx="2377440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PHP + MySQL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Pas de paiement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Pas de matching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8A49926A-A365-F68E-7DED-32134AC95CCC}"/>
              </a:ext>
            </a:extLst>
          </p:cNvPr>
          <p:cNvGrpSpPr/>
          <p:nvPr/>
        </p:nvGrpSpPr>
        <p:grpSpPr>
          <a:xfrm>
            <a:off x="3291840" y="1463040"/>
            <a:ext cx="2560320" cy="1828800"/>
            <a:chOff x="3291840" y="1463040"/>
            <a:chExt cx="2560320" cy="1828800"/>
          </a:xfrm>
        </p:grpSpPr>
        <p:sp>
          <p:nvSpPr>
            <p:cNvPr id="10" name="Shape 8"/>
            <p:cNvSpPr/>
            <p:nvPr/>
          </p:nvSpPr>
          <p:spPr>
            <a:xfrm>
              <a:off x="3291840" y="1463040"/>
              <a:ext cx="2560320" cy="1828800"/>
            </a:xfrm>
            <a:prstGeom prst="roundRect">
              <a:avLst>
                <a:gd name="adj" fmla="val 6000"/>
              </a:avLst>
            </a:prstGeom>
            <a:solidFill>
              <a:srgbClr val="E8F5EE"/>
            </a:solidFill>
            <a:ln w="12700">
              <a:solidFill>
                <a:srgbClr val="E8F5EE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291840" y="1463040"/>
              <a:ext cx="2560320" cy="347472"/>
            </a:xfrm>
            <a:prstGeom prst="roundRect">
              <a:avLst>
                <a:gd name="adj" fmla="val 31579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291840" y="1645920"/>
              <a:ext cx="2560320" cy="164592"/>
            </a:xfrm>
            <a:prstGeom prst="rect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3291840" y="1463040"/>
              <a:ext cx="25603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2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2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3383280" y="1920240"/>
              <a:ext cx="237744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2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Application web PWA-like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3383280" y="2286000"/>
              <a:ext cx="2377440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Next.js + Node.js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Matching + Paiement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Mobile-first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32294F8C-6795-10E7-04FE-8FBA17017E1C}"/>
              </a:ext>
            </a:extLst>
          </p:cNvPr>
          <p:cNvGrpSpPr/>
          <p:nvPr/>
        </p:nvGrpSpPr>
        <p:grpSpPr>
          <a:xfrm>
            <a:off x="3840480" y="3337560"/>
            <a:ext cx="1463040" cy="292608"/>
            <a:chOff x="3840480" y="3337560"/>
            <a:chExt cx="1463040" cy="292608"/>
          </a:xfrm>
        </p:grpSpPr>
        <p:sp>
          <p:nvSpPr>
            <p:cNvPr id="16" name="Shape 14"/>
            <p:cNvSpPr/>
            <p:nvPr/>
          </p:nvSpPr>
          <p:spPr>
            <a:xfrm>
              <a:off x="3840480" y="3337560"/>
              <a:ext cx="1463040" cy="292608"/>
            </a:xfrm>
            <a:prstGeom prst="roundRect">
              <a:avLst>
                <a:gd name="adj" fmla="val 25000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3840480" y="3337560"/>
              <a:ext cx="14630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0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CHOIX RETENU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3D2D187D-2A69-2D4A-AF41-257159690C6A}"/>
              </a:ext>
            </a:extLst>
          </p:cNvPr>
          <p:cNvGrpSpPr/>
          <p:nvPr/>
        </p:nvGrpSpPr>
        <p:grpSpPr>
          <a:xfrm>
            <a:off x="6126480" y="1463040"/>
            <a:ext cx="2560320" cy="1828800"/>
            <a:chOff x="6126480" y="1463040"/>
            <a:chExt cx="2560320" cy="1828800"/>
          </a:xfrm>
        </p:grpSpPr>
        <p:sp>
          <p:nvSpPr>
            <p:cNvPr id="18" name="Shape 16"/>
            <p:cNvSpPr/>
            <p:nvPr/>
          </p:nvSpPr>
          <p:spPr>
            <a:xfrm>
              <a:off x="6126480" y="1463040"/>
              <a:ext cx="2560320" cy="1828800"/>
            </a:xfrm>
            <a:prstGeom prst="roundRect">
              <a:avLst>
                <a:gd name="adj" fmla="val 6000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126480" y="1463040"/>
              <a:ext cx="256032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200" b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3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217920" y="1920240"/>
              <a:ext cx="237744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200" b="1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Application native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217920" y="2286000"/>
              <a:ext cx="2377440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React Native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Coût élevé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ctr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Téléchargement requis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8E0E3B9-4ABF-B24F-994D-43220BAC7554}"/>
              </a:ext>
            </a:extLst>
          </p:cNvPr>
          <p:cNvGrpSpPr/>
          <p:nvPr/>
        </p:nvGrpSpPr>
        <p:grpSpPr>
          <a:xfrm>
            <a:off x="274320" y="3767328"/>
            <a:ext cx="8595360" cy="1143000"/>
            <a:chOff x="274320" y="3767328"/>
            <a:chExt cx="9006840" cy="1143000"/>
          </a:xfrm>
        </p:grpSpPr>
        <p:sp>
          <p:nvSpPr>
            <p:cNvPr id="34" name="Text 32"/>
            <p:cNvSpPr/>
            <p:nvPr/>
          </p:nvSpPr>
          <p:spPr>
            <a:xfrm>
              <a:off x="5120640" y="4206240"/>
              <a:ext cx="41605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Compatible réseaux 2G/3G - optimisé pour Brazzaville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4614EC49-1D9D-1146-E95D-FD136E7A48A1}"/>
                </a:ext>
              </a:extLst>
            </p:cNvPr>
            <p:cNvGrpSpPr/>
            <p:nvPr/>
          </p:nvGrpSpPr>
          <p:grpSpPr>
            <a:xfrm>
              <a:off x="274320" y="3767328"/>
              <a:ext cx="8595360" cy="1060704"/>
              <a:chOff x="274320" y="3767328"/>
              <a:chExt cx="8595360" cy="1060704"/>
            </a:xfrm>
          </p:grpSpPr>
          <p:sp>
            <p:nvSpPr>
              <p:cNvPr id="22" name="Text 20"/>
              <p:cNvSpPr/>
              <p:nvPr/>
            </p:nvSpPr>
            <p:spPr>
              <a:xfrm>
                <a:off x="274320" y="3767328"/>
                <a:ext cx="8595360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fr-FR" sz="1400" b="1" noProof="0" dirty="0">
                    <a:solidFill>
                      <a:srgbClr val="1A2E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Points forts de SALISA</a:t>
                </a:r>
                <a:endParaRPr lang="fr-FR" sz="1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Shape 21"/>
              <p:cNvSpPr/>
              <p:nvPr/>
            </p:nvSpPr>
            <p:spPr>
              <a:xfrm>
                <a:off x="274320" y="4206240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566928" y="4169664"/>
                <a:ext cx="402336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fr-FR" sz="1100" noProof="0" dirty="0">
                    <a:solidFill>
                      <a:srgbClr val="3A3A3A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PWA - accessible sans installation depuis tout terminal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Shape 23"/>
              <p:cNvSpPr/>
              <p:nvPr/>
            </p:nvSpPr>
            <p:spPr>
              <a:xfrm>
                <a:off x="4846320" y="4206240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Shape 25"/>
              <p:cNvSpPr/>
              <p:nvPr/>
            </p:nvSpPr>
            <p:spPr>
              <a:xfrm>
                <a:off x="274320" y="4590288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Text 26"/>
              <p:cNvSpPr/>
              <p:nvPr/>
            </p:nvSpPr>
            <p:spPr>
              <a:xfrm>
                <a:off x="566928" y="4553712"/>
                <a:ext cx="402336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fr-FR" sz="1100" noProof="0" dirty="0">
                    <a:solidFill>
                      <a:srgbClr val="3A3A3A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Matching intelligent sur 8 critères pondérés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" name="Shape 27"/>
              <p:cNvSpPr/>
              <p:nvPr/>
            </p:nvSpPr>
            <p:spPr>
              <a:xfrm>
                <a:off x="4846320" y="4590288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Shape 29"/>
              <p:cNvSpPr/>
              <p:nvPr/>
            </p:nvSpPr>
            <p:spPr>
              <a:xfrm>
                <a:off x="274320" y="4251960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3" name="Shape 31"/>
              <p:cNvSpPr/>
              <p:nvPr/>
            </p:nvSpPr>
            <p:spPr>
              <a:xfrm>
                <a:off x="4846320" y="4251960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Shape 33"/>
              <p:cNvSpPr/>
              <p:nvPr/>
            </p:nvSpPr>
            <p:spPr>
              <a:xfrm>
                <a:off x="274320" y="4636008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7" name="Shape 35"/>
              <p:cNvSpPr/>
              <p:nvPr/>
            </p:nvSpPr>
            <p:spPr>
              <a:xfrm>
                <a:off x="4846320" y="4636008"/>
                <a:ext cx="182880" cy="182880"/>
              </a:xfrm>
              <a:prstGeom prst="ellipse">
                <a:avLst/>
              </a:prstGeom>
              <a:solidFill>
                <a:srgbClr val="2A8F5A"/>
              </a:solidFill>
              <a:ln w="12700">
                <a:solidFill>
                  <a:srgbClr val="2A8F5A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8" name="Text 36"/>
            <p:cNvSpPr/>
            <p:nvPr/>
          </p:nvSpPr>
          <p:spPr>
            <a:xfrm>
              <a:off x="5120640" y="4590288"/>
              <a:ext cx="41605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Paiement sécurisé via MTN MoMo et Airtel Money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I. Introduction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Problématique et objectifs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1CB3565A-084C-8BAE-69AF-16732D98015F}"/>
              </a:ext>
            </a:extLst>
          </p:cNvPr>
          <p:cNvGrpSpPr/>
          <p:nvPr/>
        </p:nvGrpSpPr>
        <p:grpSpPr>
          <a:xfrm>
            <a:off x="342900" y="1005840"/>
            <a:ext cx="8458200" cy="1234440"/>
            <a:chOff x="274320" y="1005840"/>
            <a:chExt cx="8595360" cy="1234440"/>
          </a:xfrm>
          <a:effectLst>
            <a:glow rad="63500">
              <a:schemeClr val="accent6">
                <a:satMod val="175000"/>
                <a:alpha val="40000"/>
              </a:schemeClr>
            </a:glo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</p:grpSpPr>
        <p:sp>
          <p:nvSpPr>
            <p:cNvPr id="5" name="Shape 3"/>
            <p:cNvSpPr/>
            <p:nvPr/>
          </p:nvSpPr>
          <p:spPr>
            <a:xfrm>
              <a:off x="274320" y="1005840"/>
              <a:ext cx="8595360" cy="1234440"/>
            </a:xfrm>
            <a:prstGeom prst="roundRect">
              <a:avLst>
                <a:gd name="adj" fmla="val 8889"/>
              </a:avLst>
            </a:prstGeom>
            <a:solidFill>
              <a:srgbClr val="E8F5EE"/>
            </a:solidFill>
            <a:ln w="12700">
              <a:noFill/>
              <a:prstDash val="solid"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p3d>
              <a:bevelT w="190500" h="38100"/>
            </a:sp3d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02920" y="1078992"/>
              <a:ext cx="3657600" cy="347472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p3d>
              <a:bevelT w="190500" h="38100"/>
            </a:sp3d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Problématique centrale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502920" y="1444752"/>
              <a:ext cx="8046720" cy="658368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p3d>
              <a:bevelT w="190500" h="38100"/>
            </a:sp3d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i="1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Comment concevoir et réaliser une application cross-plateforme permettant de connecter efficacement des prestataires et des clients, en garantissant la qualité des services, la sécurité des transactions et une expérience adaptée au contexte local ?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38B7D0A2-6A07-875F-3B04-0B54B5CC585B}"/>
              </a:ext>
            </a:extLst>
          </p:cNvPr>
          <p:cNvGrpSpPr/>
          <p:nvPr/>
        </p:nvGrpSpPr>
        <p:grpSpPr>
          <a:xfrm>
            <a:off x="342900" y="2501606"/>
            <a:ext cx="8161020" cy="1216152"/>
            <a:chOff x="274320" y="2395728"/>
            <a:chExt cx="8229600" cy="1216152"/>
          </a:xfrm>
        </p:grpSpPr>
        <p:sp>
          <p:nvSpPr>
            <p:cNvPr id="8" name="Text 6"/>
            <p:cNvSpPr/>
            <p:nvPr/>
          </p:nvSpPr>
          <p:spPr>
            <a:xfrm>
              <a:off x="274320" y="2395728"/>
              <a:ext cx="82296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5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Nos hypothèses de réponse (objectifs)</a:t>
              </a:r>
              <a:endParaRPr lang="fr-FR" sz="15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274320" y="2834640"/>
              <a:ext cx="4069080" cy="777240"/>
            </a:xfrm>
            <a:prstGeom prst="roundRect">
              <a:avLst>
                <a:gd name="adj" fmla="val 14118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384048" y="2971800"/>
              <a:ext cx="475488" cy="47548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987552" y="2926080"/>
              <a:ext cx="3200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 système de vérification d'identité et de notation pour bâtir la confiance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6145D98-65E3-9C11-587F-3BBE875A7999}"/>
              </a:ext>
            </a:extLst>
          </p:cNvPr>
          <p:cNvGrpSpPr/>
          <p:nvPr/>
        </p:nvGrpSpPr>
        <p:grpSpPr>
          <a:xfrm>
            <a:off x="4732020" y="2940518"/>
            <a:ext cx="4069080" cy="777240"/>
            <a:chOff x="4663440" y="2834640"/>
            <a:chExt cx="4069080" cy="777240"/>
          </a:xfrm>
        </p:grpSpPr>
        <p:sp>
          <p:nvSpPr>
            <p:cNvPr id="12" name="Shape 10"/>
            <p:cNvSpPr/>
            <p:nvPr/>
          </p:nvSpPr>
          <p:spPr>
            <a:xfrm>
              <a:off x="4663440" y="2834640"/>
              <a:ext cx="4069080" cy="777240"/>
            </a:xfrm>
            <a:prstGeom prst="roundRect">
              <a:avLst>
                <a:gd name="adj" fmla="val 14118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4773168" y="2971800"/>
              <a:ext cx="475488" cy="47548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5376672" y="2926080"/>
              <a:ext cx="3200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 algorithme de matching basé sur les compétences, localisation et budget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374A61B4-EACC-FF5C-ED06-9472D9C374A9}"/>
              </a:ext>
            </a:extLst>
          </p:cNvPr>
          <p:cNvGrpSpPr/>
          <p:nvPr/>
        </p:nvGrpSpPr>
        <p:grpSpPr>
          <a:xfrm>
            <a:off x="365760" y="3900638"/>
            <a:ext cx="4069080" cy="777240"/>
            <a:chOff x="274320" y="3794760"/>
            <a:chExt cx="4069080" cy="777240"/>
          </a:xfrm>
        </p:grpSpPr>
        <p:sp>
          <p:nvSpPr>
            <p:cNvPr id="15" name="Shape 13"/>
            <p:cNvSpPr/>
            <p:nvPr/>
          </p:nvSpPr>
          <p:spPr>
            <a:xfrm>
              <a:off x="274320" y="3794760"/>
              <a:ext cx="4069080" cy="777240"/>
            </a:xfrm>
            <a:prstGeom prst="roundRect">
              <a:avLst>
                <a:gd name="adj" fmla="val 14118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384048" y="3931920"/>
              <a:ext cx="475488" cy="47548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987552" y="3886200"/>
              <a:ext cx="3200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L’intégration du paiement mobile MTN MoMo et Airtel Money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BDC1213-2BA7-043B-76D6-6DCBA2E8F171}"/>
              </a:ext>
            </a:extLst>
          </p:cNvPr>
          <p:cNvGrpSpPr/>
          <p:nvPr/>
        </p:nvGrpSpPr>
        <p:grpSpPr>
          <a:xfrm>
            <a:off x="4732020" y="3900638"/>
            <a:ext cx="4069080" cy="777240"/>
            <a:chOff x="4663440" y="3794760"/>
            <a:chExt cx="4069080" cy="777240"/>
          </a:xfrm>
        </p:grpSpPr>
        <p:sp>
          <p:nvSpPr>
            <p:cNvPr id="18" name="Shape 16"/>
            <p:cNvSpPr/>
            <p:nvPr/>
          </p:nvSpPr>
          <p:spPr>
            <a:xfrm>
              <a:off x="4663440" y="3794760"/>
              <a:ext cx="4069080" cy="777240"/>
            </a:xfrm>
            <a:prstGeom prst="roundRect">
              <a:avLst>
                <a:gd name="adj" fmla="val 14118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3931920"/>
              <a:ext cx="475488" cy="47548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376672" y="3886200"/>
              <a:ext cx="3200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 méthode 2TUP + UML pour une conception rigoureuse et structurée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II. Structure d'accueil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234088" y="0"/>
            <a:ext cx="5727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Akieni : Historique et localisation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B8426C1D-9027-CD1A-C181-8BE6DA060A9A}"/>
              </a:ext>
            </a:extLst>
          </p:cNvPr>
          <p:cNvGrpSpPr/>
          <p:nvPr/>
        </p:nvGrpSpPr>
        <p:grpSpPr>
          <a:xfrm>
            <a:off x="178072" y="1069848"/>
            <a:ext cx="8783048" cy="1129525"/>
            <a:chOff x="178072" y="1069848"/>
            <a:chExt cx="8783048" cy="1086211"/>
          </a:xfrm>
        </p:grpSpPr>
        <p:sp>
          <p:nvSpPr>
            <p:cNvPr id="5" name="Shape 3"/>
            <p:cNvSpPr/>
            <p:nvPr/>
          </p:nvSpPr>
          <p:spPr>
            <a:xfrm>
              <a:off x="178072" y="1069848"/>
              <a:ext cx="8783048" cy="1086211"/>
            </a:xfrm>
            <a:prstGeom prst="roundRect">
              <a:avLst>
                <a:gd name="adj" fmla="val 5714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178072" y="1079419"/>
              <a:ext cx="7739660" cy="36368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Historique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178072" y="1466061"/>
              <a:ext cx="8628518" cy="58231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Akieni 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est une société spécialisée dans la transformation numérique et les solutions logicielles en République du Congo. Elle est dirigée par </a:t>
              </a:r>
              <a:r>
                <a:rPr lang="fr-FR" sz="1200" b="1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M. Frédéric NZÉ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spécialiste en Technologie et en Finance et actuel Ministère des Postes, des Télécommunications et de l'Économie numérique en République du Congo.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B80D510E-60D0-824A-A039-1A04CAD2170D}"/>
              </a:ext>
            </a:extLst>
          </p:cNvPr>
          <p:cNvGrpSpPr/>
          <p:nvPr/>
        </p:nvGrpSpPr>
        <p:grpSpPr>
          <a:xfrm>
            <a:off x="178072" y="2486894"/>
            <a:ext cx="4165330" cy="2337134"/>
            <a:chOff x="178070" y="3108480"/>
            <a:chExt cx="4165330" cy="1920240"/>
          </a:xfrm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</p:grpSpPr>
        <p:sp>
          <p:nvSpPr>
            <p:cNvPr id="13" name="Shape 3">
              <a:extLst>
                <a:ext uri="{FF2B5EF4-FFF2-40B4-BE49-F238E27FC236}">
                  <a16:creationId xmlns:a16="http://schemas.microsoft.com/office/drawing/2014/main" id="{CA786779-52DC-AC2E-07B9-4C4CC82E51A9}"/>
                </a:ext>
              </a:extLst>
            </p:cNvPr>
            <p:cNvSpPr/>
            <p:nvPr/>
          </p:nvSpPr>
          <p:spPr>
            <a:xfrm>
              <a:off x="178070" y="3108480"/>
              <a:ext cx="4165330" cy="1920240"/>
            </a:xfrm>
            <a:prstGeom prst="roundRect">
              <a:avLst>
                <a:gd name="adj" fmla="val 5714"/>
              </a:avLst>
            </a:prstGeom>
            <a:solidFill>
              <a:srgbClr val="F7F9F8"/>
            </a:solidFill>
            <a:ln w="12700">
              <a:noFill/>
              <a:prstDash val="solid"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p3d>
              <a:bevelT w="190500" h="38100"/>
            </a:sp3d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4">
              <a:extLst>
                <a:ext uri="{FF2B5EF4-FFF2-40B4-BE49-F238E27FC236}">
                  <a16:creationId xmlns:a16="http://schemas.microsoft.com/office/drawing/2014/main" id="{D83ECF48-D025-643E-6817-87BDE86E3680}"/>
                </a:ext>
              </a:extLst>
            </p:cNvPr>
            <p:cNvSpPr/>
            <p:nvPr/>
          </p:nvSpPr>
          <p:spPr>
            <a:xfrm>
              <a:off x="178070" y="3145055"/>
              <a:ext cx="3736241" cy="347472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p3d>
              <a:bevelT w="190500" h="38100"/>
            </a:sp3d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Localisation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 5">
              <a:extLst>
                <a:ext uri="{FF2B5EF4-FFF2-40B4-BE49-F238E27FC236}">
                  <a16:creationId xmlns:a16="http://schemas.microsoft.com/office/drawing/2014/main" id="{5F525D57-CF0E-5117-A9C7-244131C43AC8}"/>
                </a:ext>
              </a:extLst>
            </p:cNvPr>
            <p:cNvSpPr/>
            <p:nvPr/>
          </p:nvSpPr>
          <p:spPr>
            <a:xfrm>
              <a:off x="178072" y="3583967"/>
              <a:ext cx="4165328" cy="1047882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p3d>
              <a:bevelT w="190500" h="38100"/>
            </a:sp3d>
          </p:spPr>
          <p:txBody>
            <a:bodyPr wrap="square" rtlCol="0" anchor="ctr"/>
            <a:lstStyle/>
            <a:p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Akieni 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est implantée à </a:t>
              </a:r>
              <a:r>
                <a:rPr lang="fr-FR" sz="12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Brazzaville depuis 2022.</a:t>
              </a:r>
              <a:br>
                <a:rPr lang="fr-FR" sz="12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Elle est située à Mpila, précisément au 23</a:t>
              </a:r>
              <a:r>
                <a:rPr lang="fr-FR" sz="1200" baseline="300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étage, aux Tours jumelles.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34" name="Image 33">
            <a:extLst>
              <a:ext uri="{FF2B5EF4-FFF2-40B4-BE49-F238E27FC236}">
                <a16:creationId xmlns:a16="http://schemas.microsoft.com/office/drawing/2014/main" id="{88CADE24-02AF-17BE-FE62-83D00F2B5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418" y="2486893"/>
            <a:ext cx="3786702" cy="2337134"/>
          </a:xfrm>
          <a:prstGeom prst="round2DiagRect">
            <a:avLst>
              <a:gd name="adj1" fmla="val 23051"/>
              <a:gd name="adj2" fmla="val 0"/>
            </a:avLst>
          </a:prstGeom>
          <a:ln w="28575" cap="sq">
            <a:solidFill>
              <a:srgbClr val="FFFFFF"/>
            </a:solidFill>
            <a:miter lim="800000"/>
          </a:ln>
          <a:effectLst>
            <a:glow rad="63500">
              <a:schemeClr val="accent6">
                <a:satMod val="175000"/>
                <a:alpha val="40000"/>
              </a:schemeClr>
            </a:glow>
            <a:outerShdw blurRad="254000" algn="tl" rotWithShape="0">
              <a:srgbClr val="000000">
                <a:alpha val="43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50"/>
                            </p:stCondLst>
                            <p:childTnLst>
                              <p:par>
                                <p:cTn id="18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1A9D8B-A7EF-914A-24FC-6EB86AA89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CA7CA53-2E60-641D-C6C9-D143229A6D6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32E0AA-5B77-FB13-E882-D5353F58A2BA}"/>
              </a:ext>
            </a:extLst>
          </p:cNvPr>
          <p:cNvSpPr/>
          <p:nvPr/>
        </p:nvSpPr>
        <p:spPr>
          <a:xfrm>
            <a:off x="365760" y="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II. Structure d'accueil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75E0184-8C41-BEA1-C952-8CF1F970EA17}"/>
              </a:ext>
            </a:extLst>
          </p:cNvPr>
          <p:cNvSpPr/>
          <p:nvPr/>
        </p:nvSpPr>
        <p:spPr>
          <a:xfrm>
            <a:off x="3234088" y="0"/>
            <a:ext cx="5727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Akieni : Missions principales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F08D389-76CC-069A-7E94-3D2D551A290D}"/>
              </a:ext>
            </a:extLst>
          </p:cNvPr>
          <p:cNvSpPr/>
          <p:nvPr/>
        </p:nvSpPr>
        <p:spPr>
          <a:xfrm>
            <a:off x="274320" y="1241659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2A8F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Missions principales d'Akieni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64DCB2BC-BC9E-F285-1D94-1DD862E8810C}"/>
              </a:ext>
            </a:extLst>
          </p:cNvPr>
          <p:cNvGrpSpPr/>
          <p:nvPr/>
        </p:nvGrpSpPr>
        <p:grpSpPr>
          <a:xfrm>
            <a:off x="274320" y="2080024"/>
            <a:ext cx="4069080" cy="530352"/>
            <a:chOff x="274320" y="2080024"/>
            <a:chExt cx="4069080" cy="530352"/>
          </a:xfrm>
        </p:grpSpPr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806C2F8F-15F8-4FF4-4FCA-FE1B9330C770}"/>
                </a:ext>
              </a:extLst>
            </p:cNvPr>
            <p:cNvSpPr/>
            <p:nvPr/>
          </p:nvSpPr>
          <p:spPr>
            <a:xfrm>
              <a:off x="274320" y="2080024"/>
              <a:ext cx="4069080" cy="530352"/>
            </a:xfrm>
            <a:prstGeom prst="roundRect">
              <a:avLst>
                <a:gd name="adj" fmla="val 13793"/>
              </a:avLst>
            </a:prstGeom>
            <a:solidFill>
              <a:srgbClr val="E8F5EE"/>
            </a:solidFill>
            <a:ln w="63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DFA80FC7-9EC7-5137-7C85-9C2CD576ECC8}"/>
                </a:ext>
              </a:extLst>
            </p:cNvPr>
            <p:cNvSpPr/>
            <p:nvPr/>
          </p:nvSpPr>
          <p:spPr>
            <a:xfrm>
              <a:off x="365760" y="2226328"/>
              <a:ext cx="237744" cy="237744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4494A73F-0DDB-AF04-B859-76BF9EB6C636}"/>
                </a:ext>
              </a:extLst>
            </p:cNvPr>
            <p:cNvSpPr/>
            <p:nvPr/>
          </p:nvSpPr>
          <p:spPr>
            <a:xfrm>
              <a:off x="713232" y="2162320"/>
              <a:ext cx="3520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Accompagner les organisations </a:t>
              </a:r>
              <a:r>
                <a:rPr lang="fr-FR" sz="1050" noProof="0" dirty="0">
                  <a:latin typeface="Arial" panose="020B0604020202020204" pitchFamily="34" charset="0"/>
                  <a:cs typeface="Arial" panose="020B0604020202020204" pitchFamily="34" charset="0"/>
                </a:rPr>
                <a:t>publiques et privées dans leurs projets de transformation digitale</a:t>
              </a:r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76BCCE0D-9B53-1A51-D1D3-26DAC834BEDF}"/>
              </a:ext>
            </a:extLst>
          </p:cNvPr>
          <p:cNvGrpSpPr/>
          <p:nvPr/>
        </p:nvGrpSpPr>
        <p:grpSpPr>
          <a:xfrm>
            <a:off x="4663440" y="2080024"/>
            <a:ext cx="4069080" cy="530352"/>
            <a:chOff x="4663440" y="2080024"/>
            <a:chExt cx="4069080" cy="530352"/>
          </a:xfrm>
        </p:grpSpPr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81043323-36CD-B7F8-4D29-49144644986C}"/>
                </a:ext>
              </a:extLst>
            </p:cNvPr>
            <p:cNvSpPr/>
            <p:nvPr/>
          </p:nvSpPr>
          <p:spPr>
            <a:xfrm>
              <a:off x="4663440" y="2080024"/>
              <a:ext cx="4069080" cy="530352"/>
            </a:xfrm>
            <a:prstGeom prst="roundRect">
              <a:avLst>
                <a:gd name="adj" fmla="val 13793"/>
              </a:avLst>
            </a:prstGeom>
            <a:solidFill>
              <a:srgbClr val="E8F5EE"/>
            </a:solidFill>
            <a:ln w="63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Shape 20">
              <a:extLst>
                <a:ext uri="{FF2B5EF4-FFF2-40B4-BE49-F238E27FC236}">
                  <a16:creationId xmlns:a16="http://schemas.microsoft.com/office/drawing/2014/main" id="{65815EB0-A689-69F6-0CF4-6D11973D688C}"/>
                </a:ext>
              </a:extLst>
            </p:cNvPr>
            <p:cNvSpPr/>
            <p:nvPr/>
          </p:nvSpPr>
          <p:spPr>
            <a:xfrm>
              <a:off x="4754880" y="2226328"/>
              <a:ext cx="237744" cy="237744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67AF2A4A-E644-73BF-AA68-C47E4E07442E}"/>
                </a:ext>
              </a:extLst>
            </p:cNvPr>
            <p:cNvSpPr/>
            <p:nvPr/>
          </p:nvSpPr>
          <p:spPr>
            <a:xfrm>
              <a:off x="5102352" y="2162320"/>
              <a:ext cx="3520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Investir dans le capital humain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1C69583F-9647-02C6-B393-E55DB1C60913}"/>
              </a:ext>
            </a:extLst>
          </p:cNvPr>
          <p:cNvGrpSpPr/>
          <p:nvPr/>
        </p:nvGrpSpPr>
        <p:grpSpPr>
          <a:xfrm>
            <a:off x="274320" y="3304845"/>
            <a:ext cx="4069080" cy="530352"/>
            <a:chOff x="274320" y="3304845"/>
            <a:chExt cx="4069080" cy="530352"/>
          </a:xfrm>
        </p:grpSpPr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7F01D571-48CB-82D3-E350-204D8B7B183B}"/>
                </a:ext>
              </a:extLst>
            </p:cNvPr>
            <p:cNvSpPr/>
            <p:nvPr/>
          </p:nvSpPr>
          <p:spPr>
            <a:xfrm>
              <a:off x="274320" y="3304845"/>
              <a:ext cx="4069080" cy="530352"/>
            </a:xfrm>
            <a:prstGeom prst="roundRect">
              <a:avLst>
                <a:gd name="adj" fmla="val 13793"/>
              </a:avLst>
            </a:prstGeom>
            <a:solidFill>
              <a:srgbClr val="E8F5EE"/>
            </a:solidFill>
            <a:ln w="63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0E445B76-B193-EF78-01EB-A994D545BEC4}"/>
                </a:ext>
              </a:extLst>
            </p:cNvPr>
            <p:cNvSpPr/>
            <p:nvPr/>
          </p:nvSpPr>
          <p:spPr>
            <a:xfrm>
              <a:off x="365760" y="3451149"/>
              <a:ext cx="237744" cy="237744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6D990E2D-6457-7AB1-73B7-92350B2B3FB7}"/>
                </a:ext>
              </a:extLst>
            </p:cNvPr>
            <p:cNvSpPr/>
            <p:nvPr/>
          </p:nvSpPr>
          <p:spPr>
            <a:xfrm>
              <a:off x="713232" y="3387141"/>
              <a:ext cx="3520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Promouvoir les talents locaux et </a:t>
              </a:r>
              <a:r>
                <a:rPr lang="fr-FR" sz="1050" noProof="0" dirty="0">
                  <a:latin typeface="Arial" panose="020B0604020202020204" pitchFamily="34" charset="0"/>
                  <a:cs typeface="Arial" panose="020B0604020202020204" pitchFamily="34" charset="0"/>
                </a:rPr>
                <a:t>favoriser</a:t>
              </a: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l'innovation numérique en </a:t>
              </a:r>
              <a:r>
                <a:rPr lang="fr-FR" sz="1050" noProof="0" dirty="0">
                  <a:latin typeface="Arial" panose="020B0604020202020204" pitchFamily="34" charset="0"/>
                  <a:cs typeface="Arial" panose="020B0604020202020204" pitchFamily="34" charset="0"/>
                </a:rPr>
                <a:t>organisant des événements numériques</a:t>
              </a: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9C8AD82F-EEE2-42C1-765C-B543368C0347}"/>
              </a:ext>
            </a:extLst>
          </p:cNvPr>
          <p:cNvGrpSpPr/>
          <p:nvPr/>
        </p:nvGrpSpPr>
        <p:grpSpPr>
          <a:xfrm>
            <a:off x="4663440" y="3304845"/>
            <a:ext cx="4069080" cy="530352"/>
            <a:chOff x="4663440" y="3304845"/>
            <a:chExt cx="4069080" cy="530352"/>
          </a:xfrm>
        </p:grpSpPr>
        <p:sp>
          <p:nvSpPr>
            <p:cNvPr id="27" name="Shape 25">
              <a:extLst>
                <a:ext uri="{FF2B5EF4-FFF2-40B4-BE49-F238E27FC236}">
                  <a16:creationId xmlns:a16="http://schemas.microsoft.com/office/drawing/2014/main" id="{234A4C2E-5C0F-EC8E-AB30-52DCB5B0EE00}"/>
                </a:ext>
              </a:extLst>
            </p:cNvPr>
            <p:cNvSpPr/>
            <p:nvPr/>
          </p:nvSpPr>
          <p:spPr>
            <a:xfrm>
              <a:off x="4663440" y="3304845"/>
              <a:ext cx="4069080" cy="530352"/>
            </a:xfrm>
            <a:prstGeom prst="roundRect">
              <a:avLst>
                <a:gd name="adj" fmla="val 13793"/>
              </a:avLst>
            </a:prstGeom>
            <a:solidFill>
              <a:srgbClr val="E8F5EE"/>
            </a:solidFill>
            <a:ln w="63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Shape 26">
              <a:extLst>
                <a:ext uri="{FF2B5EF4-FFF2-40B4-BE49-F238E27FC236}">
                  <a16:creationId xmlns:a16="http://schemas.microsoft.com/office/drawing/2014/main" id="{89956C94-0CDA-D342-A828-724CA6F2613E}"/>
                </a:ext>
              </a:extLst>
            </p:cNvPr>
            <p:cNvSpPr/>
            <p:nvPr/>
          </p:nvSpPr>
          <p:spPr>
            <a:xfrm>
              <a:off x="4754880" y="3451149"/>
              <a:ext cx="237744" cy="237744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A5A03916-B20F-822E-59F0-F1C21FF8428A}"/>
                </a:ext>
              </a:extLst>
            </p:cNvPr>
            <p:cNvSpPr/>
            <p:nvPr/>
          </p:nvSpPr>
          <p:spPr>
            <a:xfrm>
              <a:off x="5102352" y="3387141"/>
              <a:ext cx="35204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Stimuler la transformation par la collaboration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204192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II. Structure d'accueil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0" y="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Organigramme général d'Akieni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608C32F-E895-EAD7-7D17-DD97735CA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9144000" cy="4229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III. Méthodologie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01752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Méthode retenue : 2TUP + UML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26280" y="1005840"/>
            <a:ext cx="4297680" cy="3931920"/>
          </a:xfrm>
          <a:prstGeom prst="roundRect">
            <a:avLst>
              <a:gd name="adj" fmla="val 2791"/>
            </a:avLst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663440" y="10789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2A8F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Pourquoi 2TUP pour SALISA ?</a:t>
            </a:r>
            <a:endParaRPr lang="fr-FR" sz="13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663440" y="1664779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6350">
            <a:solidFill>
              <a:srgbClr val="5BBD8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736592" y="1737931"/>
            <a:ext cx="274320" cy="274320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120640" y="1701355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E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Besoins fonctionnels nombreux</a:t>
            </a:r>
            <a:endParaRPr lang="fr-FR" sz="1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120640" y="2012251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i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 CU, 9 packages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663440" y="2462217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6350">
            <a:solidFill>
              <a:srgbClr val="5BBD8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36592" y="2535369"/>
            <a:ext cx="274320" cy="274320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120640" y="2498793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E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Contraintes techniques fortes</a:t>
            </a:r>
            <a:endParaRPr lang="fr-FR" sz="1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120640" y="2809689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i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PWA, paiement mobile, temps réel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663440" y="3250127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6350">
            <a:solidFill>
              <a:srgbClr val="5BBD8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736592" y="3323279"/>
            <a:ext cx="274320" cy="274320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120640" y="3286703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E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Traitement parallèle des deux axes</a:t>
            </a:r>
            <a:endParaRPr lang="fr-FR" sz="1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120640" y="3597599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i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Efficacité et coordination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663440" y="4085659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6350">
            <a:solidFill>
              <a:srgbClr val="5BBD8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736592" y="4158811"/>
            <a:ext cx="274320" cy="274320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120640" y="4122235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E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UML comme langage unique</a:t>
            </a:r>
            <a:endParaRPr lang="fr-FR" sz="1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120640" y="4433131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i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Traçabilité besoins -&gt; code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20D531C3-9ED6-5133-7D1D-BB7A3936125B}"/>
              </a:ext>
            </a:extLst>
          </p:cNvPr>
          <p:cNvGrpSpPr/>
          <p:nvPr/>
        </p:nvGrpSpPr>
        <p:grpSpPr>
          <a:xfrm>
            <a:off x="0" y="990979"/>
            <a:ext cx="4480560" cy="3931921"/>
            <a:chOff x="0" y="990979"/>
            <a:chExt cx="4480560" cy="3931921"/>
          </a:xfrm>
        </p:grpSpPr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395B7259-B76C-E817-331E-C250E5F1B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990979"/>
              <a:ext cx="4480560" cy="393192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F1A08986-0378-8D2C-D6FC-E78B90198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12307" y="2803017"/>
              <a:ext cx="1888231" cy="1945196"/>
            </a:xfrm>
            <a:prstGeom prst="rect">
              <a:avLst/>
            </a:prstGeom>
          </p:spPr>
        </p:pic>
        <p:sp>
          <p:nvSpPr>
            <p:cNvPr id="7" name="Signe Plus 6">
              <a:extLst>
                <a:ext uri="{FF2B5EF4-FFF2-40B4-BE49-F238E27FC236}">
                  <a16:creationId xmlns:a16="http://schemas.microsoft.com/office/drawing/2014/main" id="{EC2BFF48-48E3-664C-E0C7-D10245ED5F75}"/>
                </a:ext>
              </a:extLst>
            </p:cNvPr>
            <p:cNvSpPr/>
            <p:nvPr/>
          </p:nvSpPr>
          <p:spPr>
            <a:xfrm>
              <a:off x="3200400" y="1819656"/>
              <a:ext cx="914400" cy="914400"/>
            </a:xfrm>
            <a:prstGeom prst="mathPlus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III. Méthodologie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01752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Outils et techniques utilisés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842A7B73-BC6A-A392-6F08-64EE044DBF0F}"/>
              </a:ext>
            </a:extLst>
          </p:cNvPr>
          <p:cNvGrpSpPr/>
          <p:nvPr/>
        </p:nvGrpSpPr>
        <p:grpSpPr>
          <a:xfrm>
            <a:off x="274320" y="1147959"/>
            <a:ext cx="8549640" cy="3739896"/>
            <a:chOff x="274320" y="1147959"/>
            <a:chExt cx="8549640" cy="3739896"/>
          </a:xfrm>
        </p:grpSpPr>
        <p:sp>
          <p:nvSpPr>
            <p:cNvPr id="5" name="Shape 3"/>
            <p:cNvSpPr/>
            <p:nvPr/>
          </p:nvSpPr>
          <p:spPr>
            <a:xfrm>
              <a:off x="274320" y="1147959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347472" y="1312551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347472" y="1312551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 err="1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Front-end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1371600" y="1349127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Next.js 14 (PWA / SSR)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709160" y="1147959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4782312" y="1312551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0369A1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4782312" y="1312551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 err="1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Back-end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5806440" y="1349127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Node.js + Express.js + Socket.io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274320" y="2126367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347472" y="2290959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7E22CE"/>
            </a:solidFill>
            <a:ln w="12700">
              <a:solidFill>
                <a:srgbClr val="7E22CE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347472" y="2290959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Base de données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371600" y="2327535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PostgreSQL + Redis (cache)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709160" y="2126367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782312" y="2290959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B45309"/>
            </a:solidFill>
            <a:ln w="12700">
              <a:solidFill>
                <a:srgbClr val="B45309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4782312" y="2290959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Matching IA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806440" y="2327535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Python + </a:t>
              </a:r>
              <a:r>
                <a:rPr lang="fr-FR" sz="1200" noProof="0" dirty="0" err="1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FastAPI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fr-FR" sz="1200" noProof="0" dirty="0" err="1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microservice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274320" y="3104775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347472" y="3269367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347472" y="3269367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Paiement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371600" y="3305943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MTN MoMo API + Airtel Money API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709160" y="3104775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4782312" y="3269367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4782312" y="3269367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Modélisation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806440" y="3305943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 err="1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PlantUML</a:t>
              </a: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+ Draw.io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274320" y="4083183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347472" y="4247775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0891B2"/>
            </a:solidFill>
            <a:ln w="12700">
              <a:solidFill>
                <a:srgbClr val="0891B2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347472" y="4247775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Planification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1371600" y="4284351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MS Project + Diagramme de Gantt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4709160" y="4083183"/>
              <a:ext cx="4114800" cy="804672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DDDDD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4782312" y="4247775"/>
              <a:ext cx="960120" cy="475488"/>
            </a:xfrm>
            <a:prstGeom prst="roundRect">
              <a:avLst>
                <a:gd name="adj" fmla="val 13462"/>
              </a:avLst>
            </a:prstGeom>
            <a:solidFill>
              <a:srgbClr val="374151"/>
            </a:solidFill>
            <a:ln w="12700">
              <a:solidFill>
                <a:srgbClr val="374151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4782312" y="4247775"/>
              <a:ext cx="96012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9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Dev &amp; versioning</a:t>
              </a:r>
              <a:endParaRPr lang="fr-FR" sz="9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5806440" y="4284351"/>
              <a:ext cx="2880360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Git / GitHub + Docker + VS Code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1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III. Méthodologie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09863" y="0"/>
            <a:ext cx="6251257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Étapes de réalisation</a:t>
            </a:r>
            <a:r>
              <a:rPr lang="fr-FR" sz="18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du projet (05/01/2026 - 20/06/2026)</a:t>
            </a:r>
            <a:endParaRPr lang="fr-FR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3DBF3AA0-256B-3BBB-1C6E-786EF9444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9144000" cy="4229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III. Méthodologie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01752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Cycle de vie de SALISA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65A3B00A-EA68-C708-CD69-0905E6D26AC1}"/>
              </a:ext>
            </a:extLst>
          </p:cNvPr>
          <p:cNvGrpSpPr/>
          <p:nvPr/>
        </p:nvGrpSpPr>
        <p:grpSpPr>
          <a:xfrm>
            <a:off x="215821" y="1171400"/>
            <a:ext cx="1174067" cy="1400349"/>
            <a:chOff x="215821" y="1171400"/>
            <a:chExt cx="1174067" cy="1400349"/>
          </a:xfrm>
        </p:grpSpPr>
        <p:sp>
          <p:nvSpPr>
            <p:cNvPr id="5" name="Shape 3"/>
            <p:cNvSpPr/>
            <p:nvPr/>
          </p:nvSpPr>
          <p:spPr>
            <a:xfrm>
              <a:off x="215821" y="1171400"/>
              <a:ext cx="1174067" cy="1400349"/>
            </a:xfrm>
            <a:prstGeom prst="roundRect">
              <a:avLst>
                <a:gd name="adj" fmla="val 8197"/>
              </a:avLst>
            </a:prstGeom>
            <a:solidFill>
              <a:srgbClr val="000000"/>
            </a:solidFill>
            <a:ln w="1524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609838" y="1262840"/>
              <a:ext cx="423434" cy="466783"/>
            </a:xfrm>
            <a:prstGeom prst="ellipse">
              <a:avLst/>
            </a:prstGeom>
            <a:solidFill>
              <a:srgbClr val="0369A1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609838" y="1262840"/>
              <a:ext cx="423434" cy="4667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6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fr-F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276439" y="1738328"/>
              <a:ext cx="1058585" cy="53043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fr-FR" sz="1100" b="1" noProof="0" dirty="0">
                  <a:solidFill>
                    <a:srgbClr val="0369A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Expression</a:t>
              </a:r>
            </a:p>
            <a:p>
              <a:pPr algn="ctr"/>
              <a:r>
                <a:rPr lang="fr-FR" sz="1100" b="1" noProof="0" dirty="0">
                  <a:solidFill>
                    <a:srgbClr val="0369A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des besoins</a:t>
              </a:r>
            </a:p>
          </p:txBody>
        </p:sp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351E40D9-E0DC-DB99-EB8D-60A9B10A90FC}"/>
              </a:ext>
            </a:extLst>
          </p:cNvPr>
          <p:cNvGrpSpPr/>
          <p:nvPr/>
        </p:nvGrpSpPr>
        <p:grpSpPr>
          <a:xfrm>
            <a:off x="1389887" y="1168020"/>
            <a:ext cx="2411881" cy="1400349"/>
            <a:chOff x="1389887" y="1168020"/>
            <a:chExt cx="2411881" cy="1400349"/>
          </a:xfrm>
        </p:grpSpPr>
        <p:sp>
          <p:nvSpPr>
            <p:cNvPr id="9" name="Shape 7"/>
            <p:cNvSpPr/>
            <p:nvPr/>
          </p:nvSpPr>
          <p:spPr>
            <a:xfrm flipH="1">
              <a:off x="1389887" y="1737361"/>
              <a:ext cx="1289115" cy="968"/>
            </a:xfrm>
            <a:prstGeom prst="line">
              <a:avLst/>
            </a:prstGeom>
            <a:noFill/>
            <a:ln w="190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2627701" y="1168020"/>
              <a:ext cx="1174067" cy="1400349"/>
            </a:xfrm>
            <a:prstGeom prst="roundRect">
              <a:avLst>
                <a:gd name="adj" fmla="val 8197"/>
              </a:avLst>
            </a:prstGeom>
            <a:solidFill>
              <a:srgbClr val="000000"/>
            </a:solidFill>
            <a:ln w="1524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021718" y="1259460"/>
              <a:ext cx="423434" cy="466783"/>
            </a:xfrm>
            <a:prstGeom prst="ellipse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3021718" y="1259460"/>
              <a:ext cx="423434" cy="4667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6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fr-F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2688319" y="1734948"/>
              <a:ext cx="1058585" cy="53043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fr-FR" sz="1100" b="1" noProof="0" dirty="0">
                  <a:solidFill>
                    <a:srgbClr val="7C3AE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Analyse</a:t>
              </a:r>
            </a:p>
          </p:txBody>
        </p:sp>
      </p:grp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ACEF3A12-3A62-D074-6CEC-0C207D486A24}"/>
              </a:ext>
            </a:extLst>
          </p:cNvPr>
          <p:cNvGrpSpPr/>
          <p:nvPr/>
        </p:nvGrpSpPr>
        <p:grpSpPr>
          <a:xfrm>
            <a:off x="3811085" y="1168020"/>
            <a:ext cx="2646716" cy="1400349"/>
            <a:chOff x="3811085" y="1168020"/>
            <a:chExt cx="2646716" cy="1400349"/>
          </a:xfrm>
        </p:grpSpPr>
        <p:sp>
          <p:nvSpPr>
            <p:cNvPr id="14" name="Shape 12"/>
            <p:cNvSpPr/>
            <p:nvPr/>
          </p:nvSpPr>
          <p:spPr>
            <a:xfrm flipV="1">
              <a:off x="3811085" y="1723874"/>
              <a:ext cx="1531148" cy="2369"/>
            </a:xfrm>
            <a:prstGeom prst="line">
              <a:avLst/>
            </a:prstGeom>
            <a:noFill/>
            <a:ln w="190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5283734" y="1168020"/>
              <a:ext cx="1174067" cy="1400349"/>
            </a:xfrm>
            <a:prstGeom prst="roundRect">
              <a:avLst>
                <a:gd name="adj" fmla="val 8197"/>
              </a:avLst>
            </a:prstGeom>
            <a:solidFill>
              <a:srgbClr val="000000"/>
            </a:solidFill>
            <a:ln w="1524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677751" y="1259460"/>
              <a:ext cx="423434" cy="466783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5677751" y="1259460"/>
              <a:ext cx="423434" cy="4667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6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fr-F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344352" y="1734948"/>
              <a:ext cx="1058585" cy="53043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1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Conception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22088442-D85E-08DA-33D9-7D9B8D54AF2A}"/>
              </a:ext>
            </a:extLst>
          </p:cNvPr>
          <p:cNvGrpSpPr/>
          <p:nvPr/>
        </p:nvGrpSpPr>
        <p:grpSpPr>
          <a:xfrm>
            <a:off x="6457799" y="1162829"/>
            <a:ext cx="2476708" cy="1400349"/>
            <a:chOff x="6457799" y="1162829"/>
            <a:chExt cx="2476708" cy="1400349"/>
          </a:xfrm>
        </p:grpSpPr>
        <p:sp>
          <p:nvSpPr>
            <p:cNvPr id="19" name="Shape 17"/>
            <p:cNvSpPr/>
            <p:nvPr/>
          </p:nvSpPr>
          <p:spPr>
            <a:xfrm>
              <a:off x="6457799" y="1723874"/>
              <a:ext cx="1122569" cy="0"/>
            </a:xfrm>
            <a:prstGeom prst="line">
              <a:avLst/>
            </a:prstGeom>
            <a:noFill/>
            <a:ln w="190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5" name="Groupe 54">
              <a:extLst>
                <a:ext uri="{FF2B5EF4-FFF2-40B4-BE49-F238E27FC236}">
                  <a16:creationId xmlns:a16="http://schemas.microsoft.com/office/drawing/2014/main" id="{FEE0C32C-B8C7-1BB1-AA45-322238E3FD95}"/>
                </a:ext>
              </a:extLst>
            </p:cNvPr>
            <p:cNvGrpSpPr/>
            <p:nvPr/>
          </p:nvGrpSpPr>
          <p:grpSpPr>
            <a:xfrm>
              <a:off x="7562768" y="1162829"/>
              <a:ext cx="1371739" cy="1400349"/>
              <a:chOff x="3840480" y="1078992"/>
              <a:chExt cx="1115568" cy="1207008"/>
            </a:xfrm>
          </p:grpSpPr>
          <p:sp>
            <p:nvSpPr>
              <p:cNvPr id="20" name="Shape 18"/>
              <p:cNvSpPr/>
              <p:nvPr/>
            </p:nvSpPr>
            <p:spPr>
              <a:xfrm>
                <a:off x="3840480" y="1078992"/>
                <a:ext cx="1115568" cy="1207008"/>
              </a:xfrm>
              <a:prstGeom prst="roundRect">
                <a:avLst>
                  <a:gd name="adj" fmla="val 8197"/>
                </a:avLst>
              </a:prstGeom>
              <a:solidFill>
                <a:srgbClr val="000000"/>
              </a:solidFill>
              <a:ln w="15240">
                <a:solidFill>
                  <a:srgbClr val="B45309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" name="Shape 19"/>
              <p:cNvSpPr/>
              <p:nvPr/>
            </p:nvSpPr>
            <p:spPr>
              <a:xfrm>
                <a:off x="4197096" y="1170432"/>
                <a:ext cx="402336" cy="402336"/>
              </a:xfrm>
              <a:prstGeom prst="ellipse">
                <a:avLst/>
              </a:prstGeom>
              <a:solidFill>
                <a:srgbClr val="B45309"/>
              </a:solidFill>
              <a:ln w="12700">
                <a:solidFill>
                  <a:srgbClr val="B45309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" name="Text 20"/>
              <p:cNvSpPr/>
              <p:nvPr/>
            </p:nvSpPr>
            <p:spPr>
              <a:xfrm>
                <a:off x="4197096" y="1170432"/>
                <a:ext cx="402336" cy="4023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600" b="1" noProof="0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fr-FR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Text 21"/>
              <p:cNvSpPr/>
              <p:nvPr/>
            </p:nvSpPr>
            <p:spPr>
              <a:xfrm>
                <a:off x="3895344" y="1645920"/>
                <a:ext cx="10058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100" b="1" noProof="0" dirty="0">
                    <a:solidFill>
                      <a:srgbClr val="B4530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Implémentation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990068CA-6044-5F08-2BC0-72EB2840FC02}"/>
              </a:ext>
            </a:extLst>
          </p:cNvPr>
          <p:cNvGrpSpPr/>
          <p:nvPr/>
        </p:nvGrpSpPr>
        <p:grpSpPr>
          <a:xfrm>
            <a:off x="6457801" y="2580323"/>
            <a:ext cx="1817235" cy="2080160"/>
            <a:chOff x="6457801" y="2580323"/>
            <a:chExt cx="1817235" cy="2080160"/>
          </a:xfrm>
        </p:grpSpPr>
        <p:sp>
          <p:nvSpPr>
            <p:cNvPr id="24" name="Shape 22"/>
            <p:cNvSpPr/>
            <p:nvPr/>
          </p:nvSpPr>
          <p:spPr>
            <a:xfrm flipH="1">
              <a:off x="7602997" y="2580323"/>
              <a:ext cx="672039" cy="1294262"/>
            </a:xfrm>
            <a:prstGeom prst="line">
              <a:avLst/>
            </a:prstGeom>
            <a:noFill/>
            <a:ln w="190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4" name="Groupe 53">
              <a:extLst>
                <a:ext uri="{FF2B5EF4-FFF2-40B4-BE49-F238E27FC236}">
                  <a16:creationId xmlns:a16="http://schemas.microsoft.com/office/drawing/2014/main" id="{1458490E-6A54-2FEF-ADE1-CBDCC3DFE6C3}"/>
                </a:ext>
              </a:extLst>
            </p:cNvPr>
            <p:cNvGrpSpPr/>
            <p:nvPr/>
          </p:nvGrpSpPr>
          <p:grpSpPr>
            <a:xfrm>
              <a:off x="6457801" y="3260134"/>
              <a:ext cx="1145197" cy="1400349"/>
              <a:chOff x="5029200" y="1078992"/>
              <a:chExt cx="1115568" cy="1207008"/>
            </a:xfrm>
          </p:grpSpPr>
          <p:sp>
            <p:nvSpPr>
              <p:cNvPr id="25" name="Shape 23"/>
              <p:cNvSpPr/>
              <p:nvPr/>
            </p:nvSpPr>
            <p:spPr>
              <a:xfrm>
                <a:off x="5029200" y="1078992"/>
                <a:ext cx="1115568" cy="1207008"/>
              </a:xfrm>
              <a:prstGeom prst="roundRect">
                <a:avLst>
                  <a:gd name="adj" fmla="val 8197"/>
                </a:avLst>
              </a:prstGeom>
              <a:solidFill>
                <a:srgbClr val="000000"/>
              </a:solidFill>
              <a:ln w="15240">
                <a:solidFill>
                  <a:srgbClr val="DC2626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Shape 24"/>
              <p:cNvSpPr/>
              <p:nvPr/>
            </p:nvSpPr>
            <p:spPr>
              <a:xfrm>
                <a:off x="5385816" y="1170432"/>
                <a:ext cx="402336" cy="402336"/>
              </a:xfrm>
              <a:prstGeom prst="ellipse">
                <a:avLst/>
              </a:prstGeom>
              <a:solidFill>
                <a:srgbClr val="DC2626"/>
              </a:solidFill>
              <a:ln w="12700">
                <a:solidFill>
                  <a:srgbClr val="DC2626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Text 25"/>
              <p:cNvSpPr/>
              <p:nvPr/>
            </p:nvSpPr>
            <p:spPr>
              <a:xfrm>
                <a:off x="5385816" y="1170432"/>
                <a:ext cx="402336" cy="4023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600" b="1" noProof="0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  <a:endParaRPr lang="fr-FR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Text 26"/>
              <p:cNvSpPr/>
              <p:nvPr/>
            </p:nvSpPr>
            <p:spPr>
              <a:xfrm>
                <a:off x="5084064" y="1645920"/>
                <a:ext cx="10058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100" b="1" noProof="0" dirty="0">
                    <a:solidFill>
                      <a:srgbClr val="DC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Tests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3346E7D-BF94-67D5-70A8-9F5DB5F47CD1}"/>
              </a:ext>
            </a:extLst>
          </p:cNvPr>
          <p:cNvGrpSpPr/>
          <p:nvPr/>
        </p:nvGrpSpPr>
        <p:grpSpPr>
          <a:xfrm>
            <a:off x="3918262" y="3284297"/>
            <a:ext cx="2539538" cy="1400349"/>
            <a:chOff x="3918262" y="3284297"/>
            <a:chExt cx="2539538" cy="1400349"/>
          </a:xfrm>
        </p:grpSpPr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E683A794-CF3F-1192-755D-DE8C9B013B09}"/>
                </a:ext>
              </a:extLst>
            </p:cNvPr>
            <p:cNvGrpSpPr/>
            <p:nvPr/>
          </p:nvGrpSpPr>
          <p:grpSpPr>
            <a:xfrm>
              <a:off x="3918262" y="3284297"/>
              <a:ext cx="1174067" cy="1400349"/>
              <a:chOff x="6217920" y="1078992"/>
              <a:chExt cx="1115568" cy="1207008"/>
            </a:xfrm>
          </p:grpSpPr>
          <p:sp>
            <p:nvSpPr>
              <p:cNvPr id="30" name="Shape 28"/>
              <p:cNvSpPr/>
              <p:nvPr/>
            </p:nvSpPr>
            <p:spPr>
              <a:xfrm>
                <a:off x="6217920" y="1078992"/>
                <a:ext cx="1115568" cy="1207008"/>
              </a:xfrm>
              <a:prstGeom prst="roundRect">
                <a:avLst>
                  <a:gd name="adj" fmla="val 8197"/>
                </a:avLst>
              </a:prstGeom>
              <a:solidFill>
                <a:srgbClr val="000000"/>
              </a:solidFill>
              <a:ln w="15240">
                <a:solidFill>
                  <a:srgbClr val="059669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Shape 29"/>
              <p:cNvSpPr/>
              <p:nvPr/>
            </p:nvSpPr>
            <p:spPr>
              <a:xfrm>
                <a:off x="6574536" y="1170432"/>
                <a:ext cx="402336" cy="402336"/>
              </a:xfrm>
              <a:prstGeom prst="ellipse">
                <a:avLst/>
              </a:prstGeom>
              <a:solidFill>
                <a:srgbClr val="059669"/>
              </a:solidFill>
              <a:ln w="12700">
                <a:solidFill>
                  <a:srgbClr val="059669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" name="Text 30"/>
              <p:cNvSpPr/>
              <p:nvPr/>
            </p:nvSpPr>
            <p:spPr>
              <a:xfrm>
                <a:off x="6574536" y="1170432"/>
                <a:ext cx="402336" cy="4023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600" b="1" noProof="0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6</a:t>
                </a:r>
                <a:endParaRPr lang="fr-FR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3" name="Text 31"/>
              <p:cNvSpPr/>
              <p:nvPr/>
            </p:nvSpPr>
            <p:spPr>
              <a:xfrm>
                <a:off x="6272784" y="1645920"/>
                <a:ext cx="10058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100" b="1" noProof="0" dirty="0">
                    <a:solidFill>
                      <a:srgbClr val="05966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Déploiement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4" name="Shape 32"/>
            <p:cNvSpPr/>
            <p:nvPr/>
          </p:nvSpPr>
          <p:spPr>
            <a:xfrm>
              <a:off x="5088554" y="3866311"/>
              <a:ext cx="1369246" cy="8274"/>
            </a:xfrm>
            <a:prstGeom prst="line">
              <a:avLst/>
            </a:prstGeom>
            <a:noFill/>
            <a:ln w="190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3CEC5EE4-D187-D435-D09D-26DF20151060}"/>
              </a:ext>
            </a:extLst>
          </p:cNvPr>
          <p:cNvGrpSpPr/>
          <p:nvPr/>
        </p:nvGrpSpPr>
        <p:grpSpPr>
          <a:xfrm>
            <a:off x="1493120" y="3293441"/>
            <a:ext cx="2425142" cy="1400349"/>
            <a:chOff x="1493120" y="3293441"/>
            <a:chExt cx="2425142" cy="1400349"/>
          </a:xfrm>
        </p:grpSpPr>
        <p:sp>
          <p:nvSpPr>
            <p:cNvPr id="29" name="Shape 27"/>
            <p:cNvSpPr/>
            <p:nvPr/>
          </p:nvSpPr>
          <p:spPr>
            <a:xfrm>
              <a:off x="2617975" y="3851225"/>
              <a:ext cx="1300287" cy="5941"/>
            </a:xfrm>
            <a:prstGeom prst="line">
              <a:avLst/>
            </a:prstGeom>
            <a:noFill/>
            <a:ln w="190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sz="2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FE6DFD7C-587C-8259-C894-0693CE7BD2CF}"/>
                </a:ext>
              </a:extLst>
            </p:cNvPr>
            <p:cNvGrpSpPr/>
            <p:nvPr/>
          </p:nvGrpSpPr>
          <p:grpSpPr>
            <a:xfrm>
              <a:off x="1493120" y="3293441"/>
              <a:ext cx="1174067" cy="1400349"/>
              <a:chOff x="7406640" y="1078992"/>
              <a:chExt cx="1115568" cy="1207008"/>
            </a:xfrm>
          </p:grpSpPr>
          <p:sp>
            <p:nvSpPr>
              <p:cNvPr id="35" name="Shape 33"/>
              <p:cNvSpPr/>
              <p:nvPr/>
            </p:nvSpPr>
            <p:spPr>
              <a:xfrm>
                <a:off x="7406640" y="1078992"/>
                <a:ext cx="1115568" cy="1207008"/>
              </a:xfrm>
              <a:prstGeom prst="roundRect">
                <a:avLst>
                  <a:gd name="adj" fmla="val 8197"/>
                </a:avLst>
              </a:prstGeom>
              <a:solidFill>
                <a:srgbClr val="000000"/>
              </a:solidFill>
              <a:ln w="15240">
                <a:solidFill>
                  <a:srgbClr val="D97706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" name="Shape 34"/>
              <p:cNvSpPr/>
              <p:nvPr/>
            </p:nvSpPr>
            <p:spPr>
              <a:xfrm>
                <a:off x="7763256" y="1170432"/>
                <a:ext cx="402336" cy="402336"/>
              </a:xfrm>
              <a:prstGeom prst="ellipse">
                <a:avLst/>
              </a:prstGeom>
              <a:solidFill>
                <a:srgbClr val="D97706"/>
              </a:solidFill>
              <a:ln w="12700">
                <a:solidFill>
                  <a:srgbClr val="D97706"/>
                </a:solidFill>
                <a:prstDash val="solid"/>
              </a:ln>
            </p:spPr>
            <p:txBody>
              <a:bodyPr/>
              <a:lstStyle/>
              <a:p>
                <a:endParaRPr lang="fr-FR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7" name="Text 35"/>
              <p:cNvSpPr/>
              <p:nvPr/>
            </p:nvSpPr>
            <p:spPr>
              <a:xfrm>
                <a:off x="7763256" y="1170432"/>
                <a:ext cx="402336" cy="4023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600" b="1" noProof="0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7</a:t>
                </a:r>
                <a:endParaRPr lang="fr-FR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Text 36"/>
              <p:cNvSpPr/>
              <p:nvPr/>
            </p:nvSpPr>
            <p:spPr>
              <a:xfrm>
                <a:off x="7461504" y="1645920"/>
                <a:ext cx="10058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100" b="1" noProof="0" dirty="0">
                    <a:solidFill>
                      <a:srgbClr val="D977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Maintenance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Analyse des besoins de SALISA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E4A93D55-DE9F-9641-0506-8CD9D73FEBA8}"/>
              </a:ext>
            </a:extLst>
          </p:cNvPr>
          <p:cNvGrpSpPr/>
          <p:nvPr/>
        </p:nvGrpSpPr>
        <p:grpSpPr>
          <a:xfrm>
            <a:off x="274320" y="1005840"/>
            <a:ext cx="4114800" cy="3931920"/>
            <a:chOff x="274320" y="1005840"/>
            <a:chExt cx="4114800" cy="3931920"/>
          </a:xfrm>
        </p:grpSpPr>
        <p:sp>
          <p:nvSpPr>
            <p:cNvPr id="5" name="Shape 3"/>
            <p:cNvSpPr/>
            <p:nvPr/>
          </p:nvSpPr>
          <p:spPr>
            <a:xfrm>
              <a:off x="274320" y="1005840"/>
              <a:ext cx="4114800" cy="3931920"/>
            </a:xfrm>
            <a:prstGeom prst="roundRect">
              <a:avLst>
                <a:gd name="adj" fmla="val 2791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457200" y="1078992"/>
              <a:ext cx="36576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Besoins fonctionnels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57200" y="15727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777240" y="1536192"/>
              <a:ext cx="34290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Inscription via numéro de téléphone + OTP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57200" y="2039112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777240" y="2002536"/>
              <a:ext cx="34290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Gestion du profil prestataire (portfolio, tarifs)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57200" y="2505456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2468880"/>
              <a:ext cx="34290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Publication et recherche de missions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457200" y="2971800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777240" y="2935224"/>
              <a:ext cx="34290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Messagerie directe + envoi de devis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457200" y="3438144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777240" y="3401568"/>
              <a:ext cx="34290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Paiement sécurise via MTN MoMo / Airtel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57200" y="390448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77240" y="3867912"/>
              <a:ext cx="34290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Notation et avis après mission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57200" y="4370832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777240" y="4334256"/>
              <a:ext cx="34290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Tableau de bord administrateur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6239CDE0-DB91-7018-39A2-A8C3A3E99EAC}"/>
              </a:ext>
            </a:extLst>
          </p:cNvPr>
          <p:cNvGrpSpPr/>
          <p:nvPr/>
        </p:nvGrpSpPr>
        <p:grpSpPr>
          <a:xfrm>
            <a:off x="4617720" y="1005840"/>
            <a:ext cx="4251960" cy="3931920"/>
            <a:chOff x="4617720" y="1005840"/>
            <a:chExt cx="4251960" cy="3931920"/>
          </a:xfrm>
        </p:grpSpPr>
        <p:sp>
          <p:nvSpPr>
            <p:cNvPr id="21" name="Shape 19"/>
            <p:cNvSpPr/>
            <p:nvPr/>
          </p:nvSpPr>
          <p:spPr>
            <a:xfrm>
              <a:off x="4617720" y="1005840"/>
              <a:ext cx="4251960" cy="3931920"/>
            </a:xfrm>
            <a:prstGeom prst="roundRect">
              <a:avLst>
                <a:gd name="adj" fmla="val 2791"/>
              </a:avLst>
            </a:prstGeom>
            <a:solidFill>
              <a:srgbClr val="E8F5EE"/>
            </a:solidFill>
            <a:ln w="12700">
              <a:solidFill>
                <a:srgbClr val="E8F5EE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4754880" y="1078992"/>
              <a:ext cx="393192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Besoins techniques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754880" y="1572768"/>
              <a:ext cx="201168" cy="201168"/>
            </a:xfrm>
            <a:prstGeom prst="ellipse">
              <a:avLst/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5074920" y="1536192"/>
              <a:ext cx="36118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Architecture PWA, mobile-first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754880" y="2039112"/>
              <a:ext cx="201168" cy="201168"/>
            </a:xfrm>
            <a:prstGeom prst="ellipse">
              <a:avLst/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074920" y="2002536"/>
              <a:ext cx="36118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Compatible réseaux 2G/3G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4754880" y="2505456"/>
              <a:ext cx="201168" cy="201168"/>
            </a:xfrm>
            <a:prstGeom prst="ellipse">
              <a:avLst/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074920" y="2468880"/>
              <a:ext cx="36118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Sécurité HTTPS, WSS, JWT, OTP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754880" y="2971800"/>
              <a:ext cx="201168" cy="201168"/>
            </a:xfrm>
            <a:prstGeom prst="ellipse">
              <a:avLst/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5074920" y="2935224"/>
              <a:ext cx="36118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Temps de réponse API &lt; 2 secondes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754880" y="3438144"/>
              <a:ext cx="201168" cy="201168"/>
            </a:xfrm>
            <a:prstGeom prst="ellipse">
              <a:avLst/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074920" y="3401568"/>
              <a:ext cx="36118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Disponibilité cible de 99,5%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4754880" y="3904488"/>
              <a:ext cx="201168" cy="201168"/>
            </a:xfrm>
            <a:prstGeom prst="ellipse">
              <a:avLst/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5074920" y="3867912"/>
              <a:ext cx="36118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Stockage fichiers media sur cloud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4754880" y="4370832"/>
              <a:ext cx="201168" cy="201168"/>
            </a:xfrm>
            <a:prstGeom prst="ellipse">
              <a:avLst/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5074920" y="4334256"/>
              <a:ext cx="36118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Messagerie en temps réel (WebSocket)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6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8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Acteurs du système - Diagramme de contexte statique</a:t>
            </a:r>
            <a:endParaRPr lang="fr-FR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2A8F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acteurs humains</a:t>
            </a:r>
            <a:endParaRPr lang="fr-FR" sz="13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A9B38B43-8322-0196-C539-9F75AA34BF91}"/>
              </a:ext>
            </a:extLst>
          </p:cNvPr>
          <p:cNvGrpSpPr/>
          <p:nvPr/>
        </p:nvGrpSpPr>
        <p:grpSpPr>
          <a:xfrm>
            <a:off x="274319" y="1444752"/>
            <a:ext cx="2068829" cy="2194560"/>
            <a:chOff x="274320" y="1444752"/>
            <a:chExt cx="1997126" cy="2194560"/>
          </a:xfrm>
        </p:grpSpPr>
        <p:sp>
          <p:nvSpPr>
            <p:cNvPr id="6" name="Shape 4"/>
            <p:cNvSpPr/>
            <p:nvPr/>
          </p:nvSpPr>
          <p:spPr>
            <a:xfrm>
              <a:off x="274320" y="1444752"/>
              <a:ext cx="1997125" cy="459671"/>
            </a:xfrm>
            <a:prstGeom prst="roundRect">
              <a:avLst>
                <a:gd name="adj" fmla="val 12903"/>
              </a:avLst>
            </a:prstGeom>
            <a:solidFill>
              <a:srgbClr val="F5F5F5"/>
            </a:solidFill>
            <a:ln w="12700">
              <a:solidFill>
                <a:srgbClr val="8A9AA0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3254" y="1541135"/>
              <a:ext cx="326802" cy="266906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rgbClr val="8A9AA0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837146" y="1489236"/>
              <a:ext cx="1434300" cy="20759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solidFill>
                    <a:schemeClr val="bg2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Visiteur</a:t>
              </a:r>
              <a:endParaRPr lang="fr-FR" sz="1300" noProof="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837147" y="1682002"/>
              <a:ext cx="1434299" cy="17447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Consulte et s'inscrit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274320" y="2023048"/>
              <a:ext cx="1997125" cy="459671"/>
            </a:xfrm>
            <a:prstGeom prst="roundRect">
              <a:avLst>
                <a:gd name="adj" fmla="val 12903"/>
              </a:avLst>
            </a:prstGeom>
            <a:solidFill>
              <a:srgbClr val="F5F5F5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83254" y="2119431"/>
              <a:ext cx="326802" cy="266906"/>
            </a:xfrm>
            <a:prstGeom prst="ellipse">
              <a:avLst/>
            </a:prstGeom>
            <a:solidFill>
              <a:srgbClr val="0369A1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837146" y="2067533"/>
              <a:ext cx="1434300" cy="19276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solidFill>
                    <a:srgbClr val="0369A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Demandeur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37147" y="2260298"/>
              <a:ext cx="1434299" cy="17447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Publie missions, paie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274320" y="2601344"/>
              <a:ext cx="1997125" cy="459671"/>
            </a:xfrm>
            <a:prstGeom prst="roundRect">
              <a:avLst>
                <a:gd name="adj" fmla="val 12903"/>
              </a:avLst>
            </a:prstGeom>
            <a:solidFill>
              <a:srgbClr val="F5F5F5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383254" y="2697727"/>
              <a:ext cx="326802" cy="266906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37146" y="2645829"/>
              <a:ext cx="1434300" cy="20759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Prestataire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37147" y="2838594"/>
              <a:ext cx="1434299" cy="17793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Répond, envoie devis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274320" y="3179641"/>
              <a:ext cx="1997125" cy="459671"/>
            </a:xfrm>
            <a:prstGeom prst="roundRect">
              <a:avLst>
                <a:gd name="adj" fmla="val 12903"/>
              </a:avLst>
            </a:prstGeom>
            <a:solidFill>
              <a:srgbClr val="F5F5F5"/>
            </a:solidFill>
            <a:ln w="12700">
              <a:solidFill>
                <a:srgbClr val="12261D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83254" y="3276023"/>
              <a:ext cx="326802" cy="266906"/>
            </a:xfrm>
            <a:prstGeom prst="ellipse">
              <a:avLst/>
            </a:prstGeom>
            <a:solidFill>
              <a:srgbClr val="FF0000"/>
            </a:solidFill>
            <a:ln w="12700">
              <a:solidFill>
                <a:srgbClr val="12261D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837146" y="3224125"/>
              <a:ext cx="1434300" cy="20759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Administrateur</a:t>
              </a:r>
              <a:endParaRPr lang="fr-FR" sz="13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837146" y="3416890"/>
              <a:ext cx="1434300" cy="1779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Modère, configure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2" name="Text 20"/>
          <p:cNvSpPr/>
          <p:nvPr/>
        </p:nvSpPr>
        <p:spPr>
          <a:xfrm>
            <a:off x="274320" y="3739142"/>
            <a:ext cx="17593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2A8F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acteurs systèmes</a:t>
            </a:r>
            <a:endParaRPr lang="fr-FR" sz="13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10B339BB-DB48-A64F-3E34-BF769DF6D978}"/>
              </a:ext>
            </a:extLst>
          </p:cNvPr>
          <p:cNvGrpSpPr/>
          <p:nvPr/>
        </p:nvGrpSpPr>
        <p:grpSpPr>
          <a:xfrm>
            <a:off x="274319" y="4159011"/>
            <a:ext cx="2068830" cy="365831"/>
            <a:chOff x="274320" y="4181384"/>
            <a:chExt cx="2011680" cy="292608"/>
          </a:xfrm>
        </p:grpSpPr>
        <p:sp>
          <p:nvSpPr>
            <p:cNvPr id="23" name="Shape 21"/>
            <p:cNvSpPr/>
            <p:nvPr/>
          </p:nvSpPr>
          <p:spPr>
            <a:xfrm>
              <a:off x="274320" y="4181384"/>
              <a:ext cx="2011680" cy="292608"/>
            </a:xfrm>
            <a:prstGeom prst="roundRect">
              <a:avLst>
                <a:gd name="adj" fmla="val 18750"/>
              </a:avLst>
            </a:prstGeom>
            <a:solidFill>
              <a:srgbClr val="EEF5EE"/>
            </a:solidFill>
            <a:ln w="12700">
              <a:solidFill>
                <a:srgbClr val="B45309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274320" y="4181384"/>
              <a:ext cx="201168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300" b="1" noProof="0" dirty="0">
                  <a:solidFill>
                    <a:srgbClr val="B4530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Service de paiement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6EE128BC-2A2B-F0A5-F742-3E90893A15C2}"/>
              </a:ext>
            </a:extLst>
          </p:cNvPr>
          <p:cNvGrpSpPr/>
          <p:nvPr/>
        </p:nvGrpSpPr>
        <p:grpSpPr>
          <a:xfrm>
            <a:off x="274320" y="4622800"/>
            <a:ext cx="2068830" cy="365832"/>
            <a:chOff x="274320" y="4622800"/>
            <a:chExt cx="1759364" cy="365832"/>
          </a:xfrm>
        </p:grpSpPr>
        <p:sp>
          <p:nvSpPr>
            <p:cNvPr id="25" name="Shape 23"/>
            <p:cNvSpPr/>
            <p:nvPr/>
          </p:nvSpPr>
          <p:spPr>
            <a:xfrm>
              <a:off x="274320" y="4622800"/>
              <a:ext cx="1759364" cy="365832"/>
            </a:xfrm>
            <a:prstGeom prst="roundRect">
              <a:avLst>
                <a:gd name="adj" fmla="val 18750"/>
              </a:avLst>
            </a:prstGeom>
            <a:solidFill>
              <a:srgbClr val="EEF5EE"/>
            </a:solidFill>
            <a:ln w="12700">
              <a:solidFill>
                <a:srgbClr val="7E22CE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274320" y="4622800"/>
              <a:ext cx="1759364" cy="3658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300" b="1" noProof="0" dirty="0">
                  <a:solidFill>
                    <a:srgbClr val="7E22C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Service de notifications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4" name="Image 43">
            <a:extLst>
              <a:ext uri="{FF2B5EF4-FFF2-40B4-BE49-F238E27FC236}">
                <a16:creationId xmlns:a16="http://schemas.microsoft.com/office/drawing/2014/main" id="{E65DB64A-6EEE-7BBE-5F6F-F2D372B21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8942" y="1067268"/>
            <a:ext cx="6270738" cy="39213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 cas d'utilisation - 9 packages fonctionnels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20914F23-C671-634D-06C1-A659F6A8C860}"/>
              </a:ext>
            </a:extLst>
          </p:cNvPr>
          <p:cNvGrpSpPr/>
          <p:nvPr/>
        </p:nvGrpSpPr>
        <p:grpSpPr>
          <a:xfrm>
            <a:off x="256032" y="1109857"/>
            <a:ext cx="8677656" cy="3730752"/>
            <a:chOff x="256032" y="1109857"/>
            <a:chExt cx="8677656" cy="3730752"/>
          </a:xfrm>
        </p:grpSpPr>
        <p:sp>
          <p:nvSpPr>
            <p:cNvPr id="5" name="Shape 3"/>
            <p:cNvSpPr/>
            <p:nvPr/>
          </p:nvSpPr>
          <p:spPr>
            <a:xfrm>
              <a:off x="256032" y="1109857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0369A1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347472" y="1201297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0369A1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347472" y="1201297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P1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1060704" y="1201297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Authentification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60704" y="1658497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200400" y="1109857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2A8F5A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291840" y="1201297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3291840" y="1201297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P2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4005072" y="1201297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Profil prestataire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4005072" y="1658497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144768" y="1109857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B45309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36208" y="1201297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B45309"/>
            </a:solidFill>
            <a:ln w="12700">
              <a:solidFill>
                <a:srgbClr val="B45309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236208" y="1201297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P3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949440" y="1201297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Gestion des missions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949440" y="1658497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256032" y="2417449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7C3AED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347472" y="2508889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347472" y="2508889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P4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1060704" y="2508889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Recherche &amp; Matching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060704" y="2966089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3200400" y="2417449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0891B2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3291840" y="2508889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0891B2"/>
            </a:solidFill>
            <a:ln w="12700">
              <a:solidFill>
                <a:srgbClr val="0891B2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3291840" y="2508889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P5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4005072" y="2508889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Messagerie &amp; Devis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4005072" y="2966089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Shape 38"/>
            <p:cNvSpPr/>
            <p:nvPr/>
          </p:nvSpPr>
          <p:spPr>
            <a:xfrm>
              <a:off x="6144768" y="2417449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DC2626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236208" y="2508889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236208" y="2508889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P6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949440" y="2508889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Paiement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6949440" y="2966089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256032" y="3725041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D97706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Shape 46"/>
            <p:cNvSpPr/>
            <p:nvPr/>
          </p:nvSpPr>
          <p:spPr>
            <a:xfrm>
              <a:off x="347472" y="3816481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347472" y="3816481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P7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 48"/>
            <p:cNvSpPr/>
            <p:nvPr/>
          </p:nvSpPr>
          <p:spPr>
            <a:xfrm>
              <a:off x="1060704" y="3816481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Notation &amp; Réputation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 49"/>
            <p:cNvSpPr/>
            <p:nvPr/>
          </p:nvSpPr>
          <p:spPr>
            <a:xfrm>
              <a:off x="1060704" y="4273681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Shape 52"/>
            <p:cNvSpPr/>
            <p:nvPr/>
          </p:nvSpPr>
          <p:spPr>
            <a:xfrm>
              <a:off x="3200400" y="3725041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059669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Shape 53"/>
            <p:cNvSpPr/>
            <p:nvPr/>
          </p:nvSpPr>
          <p:spPr>
            <a:xfrm>
              <a:off x="3291840" y="3816481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059669"/>
            </a:solidFill>
            <a:ln w="12700">
              <a:solidFill>
                <a:srgbClr val="059669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 54"/>
            <p:cNvSpPr/>
            <p:nvPr/>
          </p:nvSpPr>
          <p:spPr>
            <a:xfrm>
              <a:off x="3291840" y="3816481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P8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 55"/>
            <p:cNvSpPr/>
            <p:nvPr/>
          </p:nvSpPr>
          <p:spPr>
            <a:xfrm>
              <a:off x="4005072" y="3816481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Notifications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 56"/>
            <p:cNvSpPr/>
            <p:nvPr/>
          </p:nvSpPr>
          <p:spPr>
            <a:xfrm>
              <a:off x="4005072" y="4273681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Shape 59"/>
            <p:cNvSpPr/>
            <p:nvPr/>
          </p:nvSpPr>
          <p:spPr>
            <a:xfrm>
              <a:off x="6144768" y="3725041"/>
              <a:ext cx="2788920" cy="1115568"/>
            </a:xfrm>
            <a:prstGeom prst="roundRect">
              <a:avLst>
                <a:gd name="adj" fmla="val 9836"/>
              </a:avLst>
            </a:prstGeom>
            <a:solidFill>
              <a:srgbClr val="E8F5EE"/>
            </a:solidFill>
            <a:ln w="12700">
              <a:solidFill>
                <a:srgbClr val="1A5C3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Shape 60"/>
            <p:cNvSpPr/>
            <p:nvPr/>
          </p:nvSpPr>
          <p:spPr>
            <a:xfrm>
              <a:off x="6236208" y="3816481"/>
              <a:ext cx="621792" cy="475488"/>
            </a:xfrm>
            <a:prstGeom prst="roundRect">
              <a:avLst>
                <a:gd name="adj" fmla="val 15385"/>
              </a:avLst>
            </a:prstGeom>
            <a:solidFill>
              <a:srgbClr val="1A5C38"/>
            </a:solidFill>
            <a:ln w="12700">
              <a:solidFill>
                <a:srgbClr val="1A5C38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 61"/>
            <p:cNvSpPr/>
            <p:nvPr/>
          </p:nvSpPr>
          <p:spPr>
            <a:xfrm>
              <a:off x="6236208" y="3816481"/>
              <a:ext cx="621792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4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P9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Text 62"/>
            <p:cNvSpPr/>
            <p:nvPr/>
          </p:nvSpPr>
          <p:spPr>
            <a:xfrm>
              <a:off x="6949440" y="3816481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200" b="1" noProof="0" dirty="0">
                  <a:solidFill>
                    <a:srgbClr val="1A2E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Administration</a:t>
              </a:r>
              <a:endParaRPr lang="fr-FR" sz="12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Text 63"/>
            <p:cNvSpPr/>
            <p:nvPr/>
          </p:nvSpPr>
          <p:spPr>
            <a:xfrm>
              <a:off x="6949440" y="4273681"/>
              <a:ext cx="192024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i="1" noProof="0" dirty="0">
                  <a:solidFill>
                    <a:srgbClr val="8A9A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2C50E-5045-BDF6-2C1F-A237680AD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CC34FA-E5B4-B914-D202-AC535047923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F0EE67-F5F0-A97E-3495-C952DA286CC9}"/>
              </a:ext>
            </a:extLst>
          </p:cNvPr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3DE69D-B720-7799-0DA3-BEF157840765}"/>
              </a:ext>
            </a:extLst>
          </p:cNvPr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Diagramme de packages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499EEDA-9382-ED8B-3675-2C77EABFB3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914400"/>
            <a:ext cx="9144001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9431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CCCAA8-665C-DBEB-502A-66C253BF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3DD6744-F1EE-0BE8-B294-CAEF1743F95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DED001-EDD4-3A26-3B14-AE1EB46C95E0}"/>
              </a:ext>
            </a:extLst>
          </p:cNvPr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B8C437-105F-D6A0-139E-099128806249}"/>
              </a:ext>
            </a:extLst>
          </p:cNvPr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Diagrammes de cas d’utilisation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9" name="Image 68">
            <a:extLst>
              <a:ext uri="{FF2B5EF4-FFF2-40B4-BE49-F238E27FC236}">
                <a16:creationId xmlns:a16="http://schemas.microsoft.com/office/drawing/2014/main" id="{D2D78345-8447-3B4D-38B7-0C7398CC3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3013530" cy="1434523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DE809525-4007-2798-1413-C6CCA2DCE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3550" y="914401"/>
            <a:ext cx="3075215" cy="1434522"/>
          </a:xfrm>
          <a:prstGeom prst="rect">
            <a:avLst/>
          </a:prstGeom>
        </p:spPr>
      </p:pic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id="{7C18F988-64A1-C6C9-F511-1246E45B541D}"/>
              </a:ext>
            </a:extLst>
          </p:cNvPr>
          <p:cNvCxnSpPr>
            <a:cxnSpLocks/>
          </p:cNvCxnSpPr>
          <p:nvPr/>
        </p:nvCxnSpPr>
        <p:spPr>
          <a:xfrm flipV="1">
            <a:off x="3003550" y="914400"/>
            <a:ext cx="0" cy="42291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3C5238A7-6CAC-1993-B6D0-45B367BCA529}"/>
              </a:ext>
            </a:extLst>
          </p:cNvPr>
          <p:cNvCxnSpPr>
            <a:cxnSpLocks/>
          </p:cNvCxnSpPr>
          <p:nvPr/>
        </p:nvCxnSpPr>
        <p:spPr>
          <a:xfrm flipV="1">
            <a:off x="6078765" y="914401"/>
            <a:ext cx="0" cy="42290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CE4869F2-D043-B0E4-2E75-E56D36C4E8C7}"/>
              </a:ext>
            </a:extLst>
          </p:cNvPr>
          <p:cNvCxnSpPr>
            <a:cxnSpLocks/>
          </p:cNvCxnSpPr>
          <p:nvPr/>
        </p:nvCxnSpPr>
        <p:spPr>
          <a:xfrm flipV="1">
            <a:off x="0" y="3752850"/>
            <a:ext cx="9144000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Connecteur droit 77">
            <a:extLst>
              <a:ext uri="{FF2B5EF4-FFF2-40B4-BE49-F238E27FC236}">
                <a16:creationId xmlns:a16="http://schemas.microsoft.com/office/drawing/2014/main" id="{F4032740-6317-8840-5531-334412ACC4B9}"/>
              </a:ext>
            </a:extLst>
          </p:cNvPr>
          <p:cNvCxnSpPr>
            <a:cxnSpLocks/>
          </p:cNvCxnSpPr>
          <p:nvPr/>
        </p:nvCxnSpPr>
        <p:spPr>
          <a:xfrm>
            <a:off x="0" y="2348923"/>
            <a:ext cx="9144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9" name="Image 88">
            <a:extLst>
              <a:ext uri="{FF2B5EF4-FFF2-40B4-BE49-F238E27FC236}">
                <a16:creationId xmlns:a16="http://schemas.microsoft.com/office/drawing/2014/main" id="{74F7EECB-6A7C-95C7-8763-84107D2AB7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8744" y="914400"/>
            <a:ext cx="3065228" cy="1434521"/>
          </a:xfrm>
          <a:prstGeom prst="rect">
            <a:avLst/>
          </a:prstGeom>
        </p:spPr>
      </p:pic>
      <p:pic>
        <p:nvPicPr>
          <p:cNvPr id="91" name="Image 90">
            <a:extLst>
              <a:ext uri="{FF2B5EF4-FFF2-40B4-BE49-F238E27FC236}">
                <a16:creationId xmlns:a16="http://schemas.microsoft.com/office/drawing/2014/main" id="{22541AE9-8D99-C5D8-8366-560C836F0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8744" y="2357941"/>
            <a:ext cx="3055256" cy="138588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4BBC56B-D09C-F97A-4C4A-78A275F539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3529" y="2357941"/>
            <a:ext cx="3055257" cy="138588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DE79C57-9163-9F59-31E5-7729FE47BA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357941"/>
            <a:ext cx="2993571" cy="138588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CC250A2-23C3-7705-4D6A-7F1FBEFC8E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3761875"/>
            <a:ext cx="2993570" cy="138162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D278AE8-C3E3-0CDE-3C11-48C9785EC6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13529" y="3761875"/>
            <a:ext cx="3055253" cy="138432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4560F84-DB43-8723-0ECA-BF1BD29E99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8744" y="3761875"/>
            <a:ext cx="3055256" cy="138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08083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Diagrammes de séquence système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95BF1E7D-DEEC-B42B-E4DC-FE1D97883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1" y="957714"/>
            <a:ext cx="3944380" cy="4085925"/>
          </a:xfrm>
          <a:prstGeom prst="rect">
            <a:avLst/>
          </a:prstGeom>
          <a:ln>
            <a:noFill/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5A8BBC0E-C3A9-6EAE-9E5F-ADB984CAC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2096" y="957715"/>
            <a:ext cx="4746613" cy="4085924"/>
          </a:xfrm>
          <a:prstGeom prst="rect">
            <a:avLst/>
          </a:prstGeom>
          <a:ln>
            <a:noFill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51BAB7-3CB3-7264-706C-E6639654E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4854DBC-9805-A815-CED1-9CC476641A5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57ACEC-223C-F1A3-1FB2-E28CE587CBAE}"/>
              </a:ext>
            </a:extLst>
          </p:cNvPr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BA7D783-1A4E-12D1-76F6-210264447151}"/>
              </a:ext>
            </a:extLst>
          </p:cNvPr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Diagrammes d’activités du système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7C3CE7EE-9B0E-9CAD-C6A9-5901EE14C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" y="1400080"/>
            <a:ext cx="3640034" cy="35376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936081C2-F13B-130A-434C-FDC646D17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9297" y="1400080"/>
            <a:ext cx="4966826" cy="35376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5BA5E4BF-61DC-1168-E0EF-A0FFF69FA8A3}"/>
              </a:ext>
            </a:extLst>
          </p:cNvPr>
          <p:cNvSpPr/>
          <p:nvPr/>
        </p:nvSpPr>
        <p:spPr>
          <a:xfrm>
            <a:off x="266700" y="957167"/>
            <a:ext cx="3533776" cy="400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100" b="1" noProof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fr-FR" sz="1100" b="1" noProof="0" dirty="0">
                <a:latin typeface="Arial" panose="020B0604020202020204" pitchFamily="34" charset="0"/>
                <a:cs typeface="Arial" panose="020B0604020202020204" pitchFamily="34" charset="0"/>
              </a:rPr>
              <a:t>ublication de mission et sélection du prestataire</a:t>
            </a: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589B026E-A422-7EFB-4E8C-FB9D8B864E90}"/>
              </a:ext>
            </a:extLst>
          </p:cNvPr>
          <p:cNvSpPr/>
          <p:nvPr/>
        </p:nvSpPr>
        <p:spPr>
          <a:xfrm>
            <a:off x="5425440" y="957167"/>
            <a:ext cx="2352674" cy="400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1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Processus de paiement mobile</a:t>
            </a:r>
          </a:p>
        </p:txBody>
      </p:sp>
    </p:spTree>
    <p:extLst>
      <p:ext uri="{BB962C8B-B14F-4D97-AF65-F5344CB8AC3E}">
        <p14:creationId xmlns:p14="http://schemas.microsoft.com/office/powerpoint/2010/main" val="13708717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Modèle du domaine - Diagramme de classes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4" name="Image 53">
            <a:extLst>
              <a:ext uri="{FF2B5EF4-FFF2-40B4-BE49-F238E27FC236}">
                <a16:creationId xmlns:a16="http://schemas.microsoft.com/office/drawing/2014/main" id="{9423E7EA-DC73-0122-5D3F-46B7C57B3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9144000" cy="4229100"/>
          </a:xfrm>
          <a:prstGeom prst="rect">
            <a:avLst/>
          </a:prstGeom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0627E1-2959-1239-59EA-1D4E0FBA1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E1D7D0-1BC5-1DC3-6E96-C4C4A826333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AF8A07-F55E-8DEA-79FA-FDDB06D26F18}"/>
              </a:ext>
            </a:extLst>
          </p:cNvPr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9A62D35-B219-F211-2168-3F1ADC5F2058}"/>
              </a:ext>
            </a:extLst>
          </p:cNvPr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Schéma Prisma ORM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8C040B-B2DB-41CD-F469-B06EBEB49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914400"/>
            <a:ext cx="9139141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18946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D5153-595F-3C95-61C0-24C2C3358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C1324D-B5F3-75EF-2900-27E1456FF18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4388E40-A8A4-7AC8-29AB-16C5F0A9EA85}"/>
              </a:ext>
            </a:extLst>
          </p:cNvPr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0822477-193A-8636-67D4-D72F6F903C5B}"/>
              </a:ext>
            </a:extLst>
          </p:cNvPr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Diagramme de SALISA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3BF74CC-2C37-C3D4-89A5-D0B18C8C7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9144000" cy="422910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pic>
    </p:spTree>
    <p:extLst>
      <p:ext uri="{BB962C8B-B14F-4D97-AF65-F5344CB8AC3E}">
        <p14:creationId xmlns:p14="http://schemas.microsoft.com/office/powerpoint/2010/main" val="212516442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Architecture logicielle de SALISA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8FE5B23F-369E-37FC-370D-9F5D8326CB53}"/>
              </a:ext>
            </a:extLst>
          </p:cNvPr>
          <p:cNvGrpSpPr/>
          <p:nvPr/>
        </p:nvGrpSpPr>
        <p:grpSpPr>
          <a:xfrm>
            <a:off x="274320" y="2509240"/>
            <a:ext cx="8595360" cy="481604"/>
            <a:chOff x="274320" y="2509240"/>
            <a:chExt cx="8595360" cy="481604"/>
          </a:xfrm>
        </p:grpSpPr>
        <p:sp>
          <p:nvSpPr>
            <p:cNvPr id="10" name="Shape 8"/>
            <p:cNvSpPr/>
            <p:nvPr/>
          </p:nvSpPr>
          <p:spPr>
            <a:xfrm>
              <a:off x="274320" y="2509240"/>
              <a:ext cx="8595360" cy="481604"/>
            </a:xfrm>
            <a:prstGeom prst="roundRect">
              <a:avLst>
                <a:gd name="adj" fmla="val 14706"/>
              </a:avLst>
            </a:prstGeom>
            <a:solidFill>
              <a:srgbClr val="F0FAF5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274320" y="2509240"/>
              <a:ext cx="2194560" cy="481604"/>
            </a:xfrm>
            <a:prstGeom prst="roundRect">
              <a:avLst>
                <a:gd name="adj" fmla="val 14706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274320" y="2509240"/>
              <a:ext cx="2194560" cy="4816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1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Serveur d'application (Railway / </a:t>
              </a:r>
              <a:r>
                <a:rPr lang="fr-FR" sz="1100" b="1" noProof="0" dirty="0" err="1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Render</a:t>
              </a:r>
              <a:r>
                <a:rPr lang="fr-FR" sz="11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2606040" y="2509240"/>
              <a:ext cx="6172200" cy="4816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Next.js 14 (PWA/SSR)  |  Node.js + Express  |  Socket.io  |  Python </a:t>
              </a:r>
              <a:r>
                <a:rPr lang="fr-FR" sz="1100" noProof="0" dirty="0" err="1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FastAPI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F488F3C0-7C8A-3E76-A80A-14C11F6F427D}"/>
              </a:ext>
            </a:extLst>
          </p:cNvPr>
          <p:cNvGrpSpPr/>
          <p:nvPr/>
        </p:nvGrpSpPr>
        <p:grpSpPr>
          <a:xfrm>
            <a:off x="274320" y="3313912"/>
            <a:ext cx="8595360" cy="481604"/>
            <a:chOff x="274320" y="3313912"/>
            <a:chExt cx="8595360" cy="481604"/>
          </a:xfrm>
        </p:grpSpPr>
        <p:sp>
          <p:nvSpPr>
            <p:cNvPr id="15" name="Shape 13"/>
            <p:cNvSpPr/>
            <p:nvPr/>
          </p:nvSpPr>
          <p:spPr>
            <a:xfrm>
              <a:off x="274320" y="3313912"/>
              <a:ext cx="8595360" cy="481604"/>
            </a:xfrm>
            <a:prstGeom prst="roundRect">
              <a:avLst>
                <a:gd name="adj" fmla="val 14706"/>
              </a:avLst>
            </a:prstGeom>
            <a:solidFill>
              <a:srgbClr val="F0FAF5"/>
            </a:solidFill>
            <a:ln w="12700">
              <a:solidFill>
                <a:srgbClr val="7E22CE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274320" y="3313912"/>
              <a:ext cx="2194560" cy="481604"/>
            </a:xfrm>
            <a:prstGeom prst="roundRect">
              <a:avLst>
                <a:gd name="adj" fmla="val 14706"/>
              </a:avLst>
            </a:prstGeom>
            <a:solidFill>
              <a:srgbClr val="7E22CE"/>
            </a:solidFill>
            <a:ln w="12700">
              <a:solidFill>
                <a:srgbClr val="7E22CE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274320" y="3313912"/>
              <a:ext cx="2194560" cy="4816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1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Serveur de données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2606040" y="3313912"/>
              <a:ext cx="6263640" cy="4816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PostgreSQL (base principale)  |  Redis (cache + sessions)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51511340-0A46-5169-1E0D-AA2C65DDEBA1}"/>
              </a:ext>
            </a:extLst>
          </p:cNvPr>
          <p:cNvGrpSpPr/>
          <p:nvPr/>
        </p:nvGrpSpPr>
        <p:grpSpPr>
          <a:xfrm>
            <a:off x="274320" y="4040307"/>
            <a:ext cx="8595360" cy="481604"/>
            <a:chOff x="274320" y="4040307"/>
            <a:chExt cx="8595360" cy="481604"/>
          </a:xfrm>
        </p:grpSpPr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4E3EB1A0-86E8-2A95-E4AC-1C7D68BC2B25}"/>
                </a:ext>
              </a:extLst>
            </p:cNvPr>
            <p:cNvGrpSpPr/>
            <p:nvPr/>
          </p:nvGrpSpPr>
          <p:grpSpPr>
            <a:xfrm>
              <a:off x="4663440" y="4040307"/>
              <a:ext cx="4206240" cy="481604"/>
              <a:chOff x="4663440" y="2633472"/>
              <a:chExt cx="4206240" cy="621792"/>
            </a:xfrm>
          </p:grpSpPr>
          <p:sp>
            <p:nvSpPr>
              <p:cNvPr id="20" name="Shape 18"/>
              <p:cNvSpPr/>
              <p:nvPr/>
            </p:nvSpPr>
            <p:spPr>
              <a:xfrm>
                <a:off x="4663440" y="2633472"/>
                <a:ext cx="4206240" cy="621792"/>
              </a:xfrm>
              <a:prstGeom prst="roundRect">
                <a:avLst>
                  <a:gd name="adj" fmla="val 14706"/>
                </a:avLst>
              </a:prstGeom>
              <a:solidFill>
                <a:srgbClr val="F0FAF5"/>
              </a:solidFill>
              <a:ln w="12700">
                <a:solidFill>
                  <a:srgbClr val="D97706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" name="Shape 19"/>
              <p:cNvSpPr/>
              <p:nvPr/>
            </p:nvSpPr>
            <p:spPr>
              <a:xfrm>
                <a:off x="4663440" y="2633472"/>
                <a:ext cx="2194560" cy="621792"/>
              </a:xfrm>
              <a:prstGeom prst="roundRect">
                <a:avLst>
                  <a:gd name="adj" fmla="val 14706"/>
                </a:avLst>
              </a:prstGeom>
              <a:solidFill>
                <a:srgbClr val="D97706"/>
              </a:solidFill>
              <a:ln w="12700">
                <a:solidFill>
                  <a:srgbClr val="D97706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Text 21"/>
              <p:cNvSpPr/>
              <p:nvPr/>
            </p:nvSpPr>
            <p:spPr>
              <a:xfrm>
                <a:off x="4663440" y="2633472"/>
                <a:ext cx="2194560" cy="62179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100" b="1" noProof="0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CDN &amp; Stockage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6995160" y="2633472"/>
                <a:ext cx="1783080" cy="62179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fr-FR" sz="1100" noProof="0" dirty="0" err="1">
                    <a:solidFill>
                      <a:srgbClr val="3A3A3A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Cloudflare</a:t>
                </a:r>
                <a:r>
                  <a:rPr lang="fr-FR" sz="1100" noProof="0" dirty="0">
                    <a:solidFill>
                      <a:srgbClr val="3A3A3A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R2 (photos, fichiers)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E9C74E8D-7261-3D8C-9CD9-FAD1209B2A6D}"/>
                </a:ext>
              </a:extLst>
            </p:cNvPr>
            <p:cNvGrpSpPr/>
            <p:nvPr/>
          </p:nvGrpSpPr>
          <p:grpSpPr>
            <a:xfrm>
              <a:off x="274320" y="4040307"/>
              <a:ext cx="4297680" cy="481604"/>
              <a:chOff x="274320" y="3438144"/>
              <a:chExt cx="8595360" cy="621792"/>
            </a:xfrm>
          </p:grpSpPr>
          <p:sp>
            <p:nvSpPr>
              <p:cNvPr id="25" name="Shape 23"/>
              <p:cNvSpPr/>
              <p:nvPr/>
            </p:nvSpPr>
            <p:spPr>
              <a:xfrm>
                <a:off x="274320" y="3438144"/>
                <a:ext cx="8595360" cy="621792"/>
              </a:xfrm>
              <a:prstGeom prst="roundRect">
                <a:avLst>
                  <a:gd name="adj" fmla="val 14706"/>
                </a:avLst>
              </a:prstGeom>
              <a:solidFill>
                <a:srgbClr val="F0FAF5"/>
              </a:solidFill>
              <a:ln w="12700">
                <a:solidFill>
                  <a:srgbClr val="DC2626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Shape 24"/>
              <p:cNvSpPr/>
              <p:nvPr/>
            </p:nvSpPr>
            <p:spPr>
              <a:xfrm>
                <a:off x="274320" y="3438144"/>
                <a:ext cx="2194560" cy="621792"/>
              </a:xfrm>
              <a:prstGeom prst="roundRect">
                <a:avLst>
                  <a:gd name="adj" fmla="val 14706"/>
                </a:avLst>
              </a:prstGeom>
              <a:solidFill>
                <a:srgbClr val="DC2626"/>
              </a:solidFill>
              <a:ln w="12700">
                <a:solidFill>
                  <a:srgbClr val="DC2626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Text 26"/>
              <p:cNvSpPr/>
              <p:nvPr/>
            </p:nvSpPr>
            <p:spPr>
              <a:xfrm>
                <a:off x="274320" y="3438144"/>
                <a:ext cx="2194560" cy="62179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100" b="1" noProof="0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Services externes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" name="Text 27"/>
              <p:cNvSpPr/>
              <p:nvPr/>
            </p:nvSpPr>
            <p:spPr>
              <a:xfrm>
                <a:off x="2606040" y="3438144"/>
                <a:ext cx="6172200" cy="62179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fr-FR" sz="1100" noProof="0" dirty="0">
                    <a:solidFill>
                      <a:srgbClr val="3A3A3A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MTN MoMo API  |  Airtel Money API  |  Email transactionnel  |  API SMS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1151F227-E473-8AE5-EAC8-88B5CB92EEBD}"/>
              </a:ext>
            </a:extLst>
          </p:cNvPr>
          <p:cNvGrpSpPr/>
          <p:nvPr/>
        </p:nvGrpSpPr>
        <p:grpSpPr>
          <a:xfrm>
            <a:off x="274320" y="4668215"/>
            <a:ext cx="8595360" cy="347472"/>
            <a:chOff x="274320" y="4668215"/>
            <a:chExt cx="8595360" cy="347472"/>
          </a:xfrm>
        </p:grpSpPr>
        <p:sp>
          <p:nvSpPr>
            <p:cNvPr id="33" name="Shape 31"/>
            <p:cNvSpPr/>
            <p:nvPr/>
          </p:nvSpPr>
          <p:spPr>
            <a:xfrm>
              <a:off x="274320" y="4668215"/>
              <a:ext cx="8595360" cy="347472"/>
            </a:xfrm>
            <a:prstGeom prst="roundRect">
              <a:avLst>
                <a:gd name="adj" fmla="val 21053"/>
              </a:avLst>
            </a:prstGeom>
            <a:solidFill>
              <a:srgbClr val="E8F5EE"/>
            </a:solidFill>
            <a:ln w="6350">
              <a:solidFill>
                <a:srgbClr val="5BBD8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274320" y="4668215"/>
              <a:ext cx="859536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1050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Protocoles : HTTPS / WSS (sécurité)  |  JWT + OTP (authentification)  |  REST API + WebSocket (communication)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09670AA3-2EBB-6B55-6282-376CEBB257CF}"/>
              </a:ext>
            </a:extLst>
          </p:cNvPr>
          <p:cNvGrpSpPr/>
          <p:nvPr/>
        </p:nvGrpSpPr>
        <p:grpSpPr>
          <a:xfrm>
            <a:off x="274320" y="1094018"/>
            <a:ext cx="8595360" cy="1092154"/>
            <a:chOff x="274320" y="1094018"/>
            <a:chExt cx="8595360" cy="1092154"/>
          </a:xfrm>
        </p:grpSpPr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E70FC156-3F97-97F3-8891-BF42424FD5EE}"/>
                </a:ext>
              </a:extLst>
            </p:cNvPr>
            <p:cNvGrpSpPr/>
            <p:nvPr/>
          </p:nvGrpSpPr>
          <p:grpSpPr>
            <a:xfrm>
              <a:off x="274320" y="1704568"/>
              <a:ext cx="8595360" cy="481604"/>
              <a:chOff x="274320" y="1704568"/>
              <a:chExt cx="8595360" cy="481604"/>
            </a:xfrm>
          </p:grpSpPr>
          <p:sp>
            <p:nvSpPr>
              <p:cNvPr id="5" name="Shape 3"/>
              <p:cNvSpPr/>
              <p:nvPr/>
            </p:nvSpPr>
            <p:spPr>
              <a:xfrm>
                <a:off x="274320" y="1704568"/>
                <a:ext cx="8595360" cy="481604"/>
              </a:xfrm>
              <a:prstGeom prst="roundRect">
                <a:avLst>
                  <a:gd name="adj" fmla="val 14706"/>
                </a:avLst>
              </a:prstGeom>
              <a:solidFill>
                <a:srgbClr val="F0FAF5"/>
              </a:solidFill>
              <a:ln w="12700">
                <a:solidFill>
                  <a:srgbClr val="0369A1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" name="Shape 4"/>
              <p:cNvSpPr/>
              <p:nvPr/>
            </p:nvSpPr>
            <p:spPr>
              <a:xfrm>
                <a:off x="274320" y="1704568"/>
                <a:ext cx="2194560" cy="481604"/>
              </a:xfrm>
              <a:prstGeom prst="roundRect">
                <a:avLst>
                  <a:gd name="adj" fmla="val 14706"/>
                </a:avLst>
              </a:prstGeom>
              <a:solidFill>
                <a:srgbClr val="0369A1"/>
              </a:solidFill>
              <a:ln w="12700">
                <a:solidFill>
                  <a:srgbClr val="0369A1"/>
                </a:solidFill>
                <a:prstDash val="solid"/>
              </a:ln>
            </p:spPr>
            <p:txBody>
              <a:bodyPr/>
              <a:lstStyle/>
              <a:p>
                <a:endParaRPr lang="fr-FR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Text 6"/>
              <p:cNvSpPr/>
              <p:nvPr/>
            </p:nvSpPr>
            <p:spPr>
              <a:xfrm>
                <a:off x="274320" y="1704568"/>
                <a:ext cx="2194560" cy="48160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fr-FR" sz="1100" b="1" noProof="0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Terminal utilisateur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" name="Text 7"/>
              <p:cNvSpPr/>
              <p:nvPr/>
            </p:nvSpPr>
            <p:spPr>
              <a:xfrm>
                <a:off x="2606040" y="1704568"/>
                <a:ext cx="6172200" cy="48160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fr-FR" sz="1100" noProof="0" dirty="0">
                    <a:solidFill>
                      <a:srgbClr val="3A3A3A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Navigateur Web (smartphone, tablette, PC)</a:t>
                </a:r>
                <a:endParaRPr lang="fr-FR" sz="11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8" name="Text 15">
              <a:extLst>
                <a:ext uri="{FF2B5EF4-FFF2-40B4-BE49-F238E27FC236}">
                  <a16:creationId xmlns:a16="http://schemas.microsoft.com/office/drawing/2014/main" id="{8FA88AB7-06E0-9F4E-2AC4-BC61A23AD6C0}"/>
                </a:ext>
              </a:extLst>
            </p:cNvPr>
            <p:cNvSpPr/>
            <p:nvPr/>
          </p:nvSpPr>
          <p:spPr>
            <a:xfrm>
              <a:off x="274320" y="1094018"/>
              <a:ext cx="85953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fr-FR" sz="1600" b="1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Architecture client-serveur en </a:t>
              </a:r>
              <a:r>
                <a:rPr lang="fr-FR" sz="16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 tiers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530BDA-2CDF-0B46-D18A-61B886E42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86A1961-FB8B-D894-1B54-5714C82367F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32C094-449D-5F58-1B7B-7805241B513A}"/>
              </a:ext>
            </a:extLst>
          </p:cNvPr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B7F028D-FC7A-2F0F-2BCA-9398BB35C0A8}"/>
              </a:ext>
            </a:extLst>
          </p:cNvPr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Diagramme de déploiement de SALISA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775ABA9-6329-8FBF-56B6-68B02042F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8230"/>
            <a:ext cx="9144000" cy="380190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</p:pic>
    </p:spTree>
    <p:extLst>
      <p:ext uri="{BB962C8B-B14F-4D97-AF65-F5344CB8AC3E}">
        <p14:creationId xmlns:p14="http://schemas.microsoft.com/office/powerpoint/2010/main" val="7242053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Quelques règles de gestion clés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2AE3CAAF-41EB-F3BA-C052-A12A6AB62E8C}"/>
              </a:ext>
            </a:extLst>
          </p:cNvPr>
          <p:cNvGrpSpPr/>
          <p:nvPr/>
        </p:nvGrpSpPr>
        <p:grpSpPr>
          <a:xfrm>
            <a:off x="274320" y="1143195"/>
            <a:ext cx="8549640" cy="3630168"/>
            <a:chOff x="274320" y="1143195"/>
            <a:chExt cx="8549640" cy="3630168"/>
          </a:xfrm>
        </p:grpSpPr>
        <p:sp>
          <p:nvSpPr>
            <p:cNvPr id="5" name="Shape 3"/>
            <p:cNvSpPr/>
            <p:nvPr/>
          </p:nvSpPr>
          <p:spPr>
            <a:xfrm>
              <a:off x="274320" y="114319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365760" y="126206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0369A1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365760" y="126206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RG-001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1115568" y="1234635"/>
              <a:ext cx="3154680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 numéro de téléphone = un seul compte sur la plateforme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709160" y="114319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4800600" y="126206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0369A1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4800600" y="126206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RG-002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5550408" y="1234635"/>
              <a:ext cx="3154680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 compte est associé a un seul rôle : soit Prestataire, soit Demandeur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274320" y="210331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365760" y="222218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365760" y="222218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RG-005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115568" y="2194755"/>
              <a:ext cx="3154680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 profil prestataire n'est visible dans la recherche qu'a partir de 70% de complétion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709160" y="210331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800600" y="222218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4800600" y="222218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RG-007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550408" y="2194755"/>
              <a:ext cx="3154680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Une mission sans activité depuis 30 jours est archivée automatiquement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274320" y="306343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365760" y="318230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B45309"/>
            </a:solidFill>
            <a:ln w="12700">
              <a:solidFill>
                <a:srgbClr val="B45309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365760" y="318230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RG-009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115568" y="3154875"/>
              <a:ext cx="3154680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 commission de SALISA est de 3% du montant total de chaque transaction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709160" y="306343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4800600" y="318230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B45309"/>
            </a:solidFill>
            <a:ln w="12700">
              <a:solidFill>
                <a:srgbClr val="B45309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4800600" y="318230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RG-010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550408" y="3154875"/>
              <a:ext cx="2912555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 montant minimum d'une transaction est de 2 000 FCFA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274320" y="402355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365760" y="414242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365760" y="414242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RG-013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1115568" y="4114995"/>
              <a:ext cx="3154680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 avis ne peut être laisse qu’après une mission avec transaction validée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4709160" y="4023555"/>
              <a:ext cx="4114800" cy="749808"/>
            </a:xfrm>
            <a:prstGeom prst="roundRect">
              <a:avLst>
                <a:gd name="adj" fmla="val 12195"/>
              </a:avLst>
            </a:prstGeom>
            <a:solidFill>
              <a:srgbClr val="FFFFFF"/>
            </a:solidFill>
            <a:ln w="12700">
              <a:solidFill>
                <a:srgbClr val="CCCCCC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4800600" y="4142427"/>
              <a:ext cx="658368" cy="256032"/>
            </a:xfrm>
            <a:prstGeom prst="roundRect">
              <a:avLst>
                <a:gd name="adj" fmla="val 17857"/>
              </a:avLst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4800600" y="4142427"/>
              <a:ext cx="658368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fr-FR" sz="85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RG-015</a:t>
              </a:r>
              <a:endParaRPr lang="fr-FR" sz="8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5550408" y="4114995"/>
              <a:ext cx="3154680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5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Les avis sont définitifs et ne peuvent jamais être supprimés</a:t>
              </a:r>
              <a:endParaRPr lang="fr-FR" sz="105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Estimation des charges du projet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AFD6681F-5B2D-36BB-F33A-59AE00D10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9144000" cy="4229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 Résultats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Analyse des performances de la solution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D329DF4-6440-B32B-0DCC-6A014D8E6F1A}"/>
              </a:ext>
            </a:extLst>
          </p:cNvPr>
          <p:cNvGrpSpPr/>
          <p:nvPr/>
        </p:nvGrpSpPr>
        <p:grpSpPr>
          <a:xfrm>
            <a:off x="274320" y="1005840"/>
            <a:ext cx="4114800" cy="3886200"/>
            <a:chOff x="274320" y="1005840"/>
            <a:chExt cx="4114800" cy="3886200"/>
          </a:xfrm>
        </p:grpSpPr>
        <p:sp>
          <p:nvSpPr>
            <p:cNvPr id="5" name="Shape 3"/>
            <p:cNvSpPr/>
            <p:nvPr/>
          </p:nvSpPr>
          <p:spPr>
            <a:xfrm>
              <a:off x="274320" y="1005840"/>
              <a:ext cx="4114800" cy="3886200"/>
            </a:xfrm>
            <a:prstGeom prst="roundRect">
              <a:avLst>
                <a:gd name="adj" fmla="val 2824"/>
              </a:avLst>
            </a:prstGeom>
            <a:solidFill>
              <a:srgbClr val="E8F5EE"/>
            </a:solidFill>
            <a:ln w="12700">
              <a:solidFill>
                <a:srgbClr val="E8F5EE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457200" y="1078992"/>
              <a:ext cx="36576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Points forts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57200" y="15727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768096" y="1527048"/>
              <a:ext cx="3429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Application fonctionnelle et déployée sur serveur VPS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57200" y="20299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768096" y="1984248"/>
              <a:ext cx="3429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Interface intuitive optimisée pour mobile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57200" y="24871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768096" y="2441448"/>
              <a:ext cx="3429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Système de matching basé sur 8 critères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457200" y="29443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768096" y="2898648"/>
              <a:ext cx="3429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Paiement mobile intègre (MTN MoMo + Airtel)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457200" y="34015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768096" y="3355848"/>
              <a:ext cx="3429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Messagerie en temps réel via WebSocket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57200" y="38587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68096" y="3813048"/>
              <a:ext cx="3429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Tableau de bord admin complet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57200" y="43159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768096" y="4270248"/>
              <a:ext cx="3429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Architecture modulaire facilement évolutive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E636245-C2FC-DE28-994D-F114AF4D6709}"/>
              </a:ext>
            </a:extLst>
          </p:cNvPr>
          <p:cNvGrpSpPr/>
          <p:nvPr/>
        </p:nvGrpSpPr>
        <p:grpSpPr>
          <a:xfrm>
            <a:off x="4617720" y="1005840"/>
            <a:ext cx="4251960" cy="3886200"/>
            <a:chOff x="4617720" y="1005840"/>
            <a:chExt cx="4251960" cy="3886200"/>
          </a:xfrm>
        </p:grpSpPr>
        <p:sp>
          <p:nvSpPr>
            <p:cNvPr id="21" name="Shape 19"/>
            <p:cNvSpPr/>
            <p:nvPr/>
          </p:nvSpPr>
          <p:spPr>
            <a:xfrm>
              <a:off x="4617720" y="1005840"/>
              <a:ext cx="4251960" cy="3886200"/>
            </a:xfrm>
            <a:prstGeom prst="roundRect">
              <a:avLst>
                <a:gd name="adj" fmla="val 2824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4754880" y="1078992"/>
              <a:ext cx="393192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DC26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Limites actuelles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754880" y="1572768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5074920" y="1527048"/>
              <a:ext cx="36118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Paiement mobile : intégration en mode sandow (test)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754880" y="2139696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074920" y="2093976"/>
              <a:ext cx="36118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Assistant IA description : non encore déployé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4754880" y="2706624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074920" y="2660904"/>
              <a:ext cx="36118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Matching : algorithme de base, pas encore ML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754880" y="3273552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5074920" y="3227832"/>
              <a:ext cx="36118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Pas encore d'application mobile native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754880" y="3840480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074920" y="3794760"/>
              <a:ext cx="36118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Tests utilisateurs en conditions réelles à mener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26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2743200"/>
            <a:ext cx="2743200" cy="2743200"/>
          </a:xfrm>
          <a:prstGeom prst="ellipse">
            <a:avLst/>
          </a:prstGeom>
          <a:solidFill>
            <a:srgbClr val="2A8F5A">
              <a:alpha val="15000"/>
            </a:srgbClr>
          </a:solidFill>
          <a:ln w="12700">
            <a:solidFill>
              <a:srgbClr val="2A8F5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15200" y="-457200"/>
            <a:ext cx="2743200" cy="2743200"/>
          </a:xfrm>
          <a:prstGeom prst="ellipse">
            <a:avLst/>
          </a:prstGeom>
          <a:solidFill>
            <a:srgbClr val="5BBD8A">
              <a:alpha val="12000"/>
            </a:srgbClr>
          </a:solidFill>
          <a:ln w="12700">
            <a:solidFill>
              <a:srgbClr val="5BBD8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800" b="1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V. Démonstration</a:t>
            </a:r>
            <a:endParaRPr lang="fr-FR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5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SALISA en direct</a:t>
            </a:r>
            <a:endParaRPr lang="fr-FR" sz="5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286000" y="2788920"/>
            <a:ext cx="4572000" cy="0"/>
          </a:xfrm>
          <a:prstGeom prst="line">
            <a:avLst/>
          </a:prstGeom>
          <a:noFill/>
          <a:ln w="1905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256032" cy="256032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337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DDC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Inscription et vérification OTP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697480" y="3017520"/>
            <a:ext cx="256032" cy="256032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514600" y="3337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DDC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Recherche de prestataire + Matching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63440" y="3017520"/>
            <a:ext cx="256032" cy="256032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480560" y="3337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DDC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Publication d'une mission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629400" y="3017520"/>
            <a:ext cx="256032" cy="256032"/>
          </a:xfrm>
          <a:prstGeom prst="ellipse">
            <a:avLst/>
          </a:prstGeom>
          <a:solidFill>
            <a:srgbClr val="2A8F5A"/>
          </a:solidFill>
          <a:ln w="1270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46520" y="3337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DDC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Messagerie et envoi de devis</a:t>
            </a:r>
            <a:endParaRPr lang="fr-FR" sz="1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300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 </a:t>
            </a:r>
            <a:r>
              <a:rPr lang="fr-FR" sz="1300" i="1" noProof="0" dirty="0" err="1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salisa</a:t>
            </a:r>
            <a:r>
              <a:rPr lang="fr-FR" sz="1300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300" i="1" noProof="0" dirty="0" err="1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biso</a:t>
            </a:r>
            <a:r>
              <a:rPr lang="fr-FR" sz="1300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300" i="1" noProof="0" dirty="0" err="1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nyonso</a:t>
            </a:r>
            <a:r>
              <a:rPr lang="fr-FR" sz="1300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 Nous nous entraidons tous</a:t>
            </a:r>
            <a:endParaRPr lang="fr-FR" sz="13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14:glitter pattern="hexagon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61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355946-D22E-38D2-F5DA-C7AEAA48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D67BE4B-DA79-032A-2D4A-372C42120BFF}"/>
              </a:ext>
            </a:extLst>
          </p:cNvPr>
          <p:cNvSpPr/>
          <p:nvPr/>
        </p:nvSpPr>
        <p:spPr>
          <a:xfrm>
            <a:off x="-457200" y="2743200"/>
            <a:ext cx="2743200" cy="2743200"/>
          </a:xfrm>
          <a:prstGeom prst="ellipse">
            <a:avLst/>
          </a:prstGeom>
          <a:solidFill>
            <a:srgbClr val="2A8F5A">
              <a:alpha val="15000"/>
            </a:srgbClr>
          </a:solidFill>
          <a:ln w="12700">
            <a:solidFill>
              <a:srgbClr val="2A8F5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3E2A003-EA75-EE34-3F33-80F51024C20B}"/>
              </a:ext>
            </a:extLst>
          </p:cNvPr>
          <p:cNvSpPr/>
          <p:nvPr/>
        </p:nvSpPr>
        <p:spPr>
          <a:xfrm>
            <a:off x="7315200" y="-457200"/>
            <a:ext cx="2743200" cy="2743200"/>
          </a:xfrm>
          <a:prstGeom prst="ellipse">
            <a:avLst/>
          </a:prstGeom>
          <a:solidFill>
            <a:srgbClr val="5BBD8A">
              <a:alpha val="12000"/>
            </a:srgbClr>
          </a:solidFill>
          <a:ln w="12700">
            <a:solidFill>
              <a:srgbClr val="5BBD8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A0727E-9A47-3FF9-69DD-94882F77F1B9}"/>
              </a:ext>
            </a:extLst>
          </p:cNvPr>
          <p:cNvSpPr/>
          <p:nvPr/>
        </p:nvSpPr>
        <p:spPr>
          <a:xfrm>
            <a:off x="452336" y="115107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800" b="1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V. Démonstration</a:t>
            </a:r>
            <a:endParaRPr lang="fr-FR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A1F6A05-A0A0-8A48-067E-6E3EF0C41F3E}"/>
              </a:ext>
            </a:extLst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300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fr-FR" sz="1300" i="1" noProof="0" dirty="0" err="1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salisana</a:t>
            </a:r>
            <a:r>
              <a:rPr lang="fr-FR" sz="1300" i="1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 Nous nous entraidons tous</a:t>
            </a:r>
            <a:endParaRPr lang="fr-FR" sz="13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A46CEAFE-F884-E54C-E841-49CF4D2A6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800" y="922679"/>
            <a:ext cx="3641042" cy="364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02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14:glitter pattern="hexagon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26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2A8F5A">
              <a:alpha val="12000"/>
            </a:srgbClr>
          </a:solidFill>
          <a:ln w="12700">
            <a:solidFill>
              <a:srgbClr val="2A8F5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VI. Conclusion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Objectifs atteints et contributions</a:t>
            </a:r>
            <a:endParaRPr lang="fr-FR" sz="2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F2D4C330-593F-1967-AFE1-6EE9A6FE33EF}"/>
              </a:ext>
            </a:extLst>
          </p:cNvPr>
          <p:cNvGrpSpPr/>
          <p:nvPr/>
        </p:nvGrpSpPr>
        <p:grpSpPr>
          <a:xfrm>
            <a:off x="274320" y="1299031"/>
            <a:ext cx="8549640" cy="2548453"/>
            <a:chOff x="274320" y="1299031"/>
            <a:chExt cx="8549640" cy="2548453"/>
          </a:xfrm>
        </p:grpSpPr>
        <p:sp>
          <p:nvSpPr>
            <p:cNvPr id="6" name="Text 4"/>
            <p:cNvSpPr/>
            <p:nvPr/>
          </p:nvSpPr>
          <p:spPr>
            <a:xfrm>
              <a:off x="365760" y="1299031"/>
              <a:ext cx="84124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600" b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 que nous avons accompli</a:t>
              </a:r>
              <a:endParaRPr lang="fr-F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274320" y="1899812"/>
              <a:ext cx="4114800" cy="86868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016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384048" y="2155844"/>
              <a:ext cx="347472" cy="34747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841248" y="1991252"/>
              <a:ext cx="34290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Analyse complète des besoins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841248" y="2338724"/>
              <a:ext cx="34290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35 CU, 9 packages, 15 RG, 2TUP + UML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709160" y="1899812"/>
              <a:ext cx="4114800" cy="86868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016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4818888" y="2155844"/>
              <a:ext cx="347472" cy="34747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276088" y="1991252"/>
              <a:ext cx="34290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latin typeface="Arial" panose="020B0604020202020204" pitchFamily="34" charset="0"/>
                  <a:cs typeface="Arial" panose="020B0604020202020204" pitchFamily="34" charset="0"/>
                </a:rPr>
                <a:t>Modélisation UML rigoureuse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5276088" y="2338724"/>
              <a:ext cx="34290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Contexte, CU, séquence, activités, classes, déploiement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274320" y="1899812"/>
              <a:ext cx="4114800" cy="86868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016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384048" y="2155844"/>
              <a:ext cx="347472" cy="34747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41248" y="1991252"/>
              <a:ext cx="34290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latin typeface="Arial" panose="020B0604020202020204" pitchFamily="34" charset="0"/>
                  <a:cs typeface="Arial" panose="020B0604020202020204" pitchFamily="34" charset="0"/>
                </a:rPr>
                <a:t>Application fonctionnelle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841248" y="2338724"/>
              <a:ext cx="34290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SALISA déployée, accessible en ligne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09160" y="2978804"/>
              <a:ext cx="4114800" cy="86868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016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4818888" y="3234836"/>
              <a:ext cx="347472" cy="34747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5276088" y="3070244"/>
              <a:ext cx="34290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Paiement mobile intégré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276088" y="3417716"/>
              <a:ext cx="34290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MTN MoMo + Airtel Money (mode </a:t>
              </a:r>
              <a:r>
                <a:rPr lang="fr-FR" sz="1000" i="1" noProof="0" dirty="0" err="1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sandbox</a:t>
              </a:r>
              <a:r>
                <a:rPr lang="fr-FR" sz="1000" i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274320" y="2978804"/>
              <a:ext cx="4114800" cy="86868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016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384048" y="3234836"/>
              <a:ext cx="347472" cy="34747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841248" y="3070244"/>
              <a:ext cx="34290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latin typeface="Arial" panose="020B0604020202020204" pitchFamily="34" charset="0"/>
                  <a:cs typeface="Arial" panose="020B0604020202020204" pitchFamily="34" charset="0"/>
                </a:rPr>
                <a:t>Matching intelligent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841248" y="3417716"/>
              <a:ext cx="34290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Algorithme de scoring sur 8 critères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4709160" y="2978804"/>
              <a:ext cx="4114800" cy="86868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016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818888" y="3234836"/>
              <a:ext cx="347472" cy="347472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5276088" y="3070244"/>
              <a:ext cx="34290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300" b="1" noProof="0" dirty="0">
                  <a:latin typeface="Arial" panose="020B0604020202020204" pitchFamily="34" charset="0"/>
                  <a:cs typeface="Arial" panose="020B0604020202020204" pitchFamily="34" charset="0"/>
                </a:rPr>
                <a:t>Interface mobile-first</a:t>
              </a:r>
              <a:endParaRPr lang="fr-FR" sz="13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5276088" y="3417716"/>
              <a:ext cx="34290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000" i="1" noProof="0" dirty="0">
                  <a:solidFill>
                    <a:srgbClr val="5BBD8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PWA, optimisée 2G/3G, sans installation</a:t>
              </a:r>
              <a:endParaRPr lang="fr-FR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2261D"/>
          </a:solidFill>
          <a:ln w="12700">
            <a:solidFill>
              <a:srgbClr val="12261D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VI. Conclusion</a:t>
            </a:r>
            <a:endParaRPr lang="fr-FR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0" y="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Perspectives et difficultés rencontrées</a:t>
            </a:r>
            <a:endParaRPr lang="fr-FR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7B7C3D58-7686-5550-782C-481C52220CF8}"/>
              </a:ext>
            </a:extLst>
          </p:cNvPr>
          <p:cNvGrpSpPr/>
          <p:nvPr/>
        </p:nvGrpSpPr>
        <p:grpSpPr>
          <a:xfrm>
            <a:off x="274320" y="1043944"/>
            <a:ext cx="4114800" cy="3931920"/>
            <a:chOff x="274320" y="1005840"/>
            <a:chExt cx="4114800" cy="3931920"/>
          </a:xfrm>
        </p:grpSpPr>
        <p:sp>
          <p:nvSpPr>
            <p:cNvPr id="5" name="Shape 3"/>
            <p:cNvSpPr/>
            <p:nvPr/>
          </p:nvSpPr>
          <p:spPr>
            <a:xfrm>
              <a:off x="274320" y="1005840"/>
              <a:ext cx="4114800" cy="3931920"/>
            </a:xfrm>
            <a:prstGeom prst="roundRect">
              <a:avLst>
                <a:gd name="adj" fmla="val 2791"/>
              </a:avLst>
            </a:prstGeom>
            <a:solidFill>
              <a:srgbClr val="E8F5EE"/>
            </a:solidFill>
            <a:ln w="12700">
              <a:solidFill>
                <a:srgbClr val="E8F5EE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457200" y="1078992"/>
              <a:ext cx="36576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2A8F5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Perspectives d'évolution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57200" y="157276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777240" y="1527048"/>
              <a:ext cx="342900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Déploiement du module de Machine </a:t>
              </a:r>
              <a:r>
                <a:rPr lang="fr-FR" sz="110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fr-FR" sz="1100" noProof="0" dirty="0" err="1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earning</a:t>
              </a: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pour affiner l'algorithme de matching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457200" y="2103120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777240" y="2057400"/>
              <a:ext cx="342900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Extension vers Pointe-Noire et d'autres villes du pays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57200" y="2633472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2587752"/>
              <a:ext cx="342900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Développement d'une application mobile native (React Native)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457200" y="3163824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777240" y="3118104"/>
              <a:ext cx="342900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Module entreprises B2B pour PME et ONG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457200" y="3694176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777240" y="3648456"/>
              <a:ext cx="342900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Programme d'ambassadeurs pour accélérer l'adoption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57200" y="4224528"/>
              <a:ext cx="201168" cy="201168"/>
            </a:xfrm>
            <a:prstGeom prst="ellipse">
              <a:avLst/>
            </a:prstGeom>
            <a:solidFill>
              <a:srgbClr val="2A8F5A"/>
            </a:solidFill>
            <a:ln w="1270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77240" y="4178808"/>
              <a:ext cx="342900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Activation du paiement mobile en production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AA9C8B1C-42B3-6CEE-904E-97C762E0C604}"/>
              </a:ext>
            </a:extLst>
          </p:cNvPr>
          <p:cNvGrpSpPr/>
          <p:nvPr/>
        </p:nvGrpSpPr>
        <p:grpSpPr>
          <a:xfrm>
            <a:off x="4617720" y="1043944"/>
            <a:ext cx="4251960" cy="3931920"/>
            <a:chOff x="4617720" y="1043944"/>
            <a:chExt cx="4251960" cy="3931920"/>
          </a:xfrm>
        </p:grpSpPr>
        <p:sp>
          <p:nvSpPr>
            <p:cNvPr id="19" name="Shape 17"/>
            <p:cNvSpPr/>
            <p:nvPr/>
          </p:nvSpPr>
          <p:spPr>
            <a:xfrm>
              <a:off x="4617720" y="1043944"/>
              <a:ext cx="4251960" cy="3931920"/>
            </a:xfrm>
            <a:prstGeom prst="roundRect">
              <a:avLst>
                <a:gd name="adj" fmla="val 2791"/>
              </a:avLst>
            </a:prstGeom>
            <a:solidFill>
              <a:srgbClr val="F7F9F8"/>
            </a:solidFill>
            <a:ln w="12700">
              <a:solidFill>
                <a:srgbClr val="F7F9F8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4754880" y="1117096"/>
              <a:ext cx="393192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400" b="1" noProof="0" dirty="0">
                  <a:solidFill>
                    <a:srgbClr val="DC262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Difficultés rencontrées</a:t>
              </a:r>
              <a:endParaRPr lang="fr-FR" sz="14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754880" y="1610872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074920" y="1565152"/>
              <a:ext cx="3611880" cy="5120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Collecte d'informations sur la structure d'accueil Akieni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754880" y="2232664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5074920" y="2186944"/>
              <a:ext cx="3611880" cy="5120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Complexité de la modélisation UML pour 35 cas d'utilisation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754880" y="2854456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074920" y="2808736"/>
              <a:ext cx="3611880" cy="5120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Intégration du paiement mobile (documentation incomplète)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4754880" y="3476248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074920" y="3430528"/>
              <a:ext cx="3611880" cy="5120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Gestion du temps entre la rédaction et le développement en parallèle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754880" y="4098040"/>
              <a:ext cx="201168" cy="201168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5074920" y="4052320"/>
              <a:ext cx="3611880" cy="5120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fr-FR" sz="1100" noProof="0" dirty="0">
                  <a:solidFill>
                    <a:srgbClr val="3A3A3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Configuration de l'environnement Docker pour le déploiement</a:t>
              </a:r>
              <a:endParaRPr lang="fr-FR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834640"/>
            <a:ext cx="3657600" cy="3657600"/>
          </a:xfrm>
          <a:prstGeom prst="ellipse">
            <a:avLst/>
          </a:prstGeom>
          <a:solidFill>
            <a:srgbClr val="2A8F5A">
              <a:alpha val="15000"/>
            </a:srgbClr>
          </a:solidFill>
          <a:ln w="12700">
            <a:solidFill>
              <a:srgbClr val="2A8F5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772400" y="-914400"/>
            <a:ext cx="3200400" cy="3200400"/>
          </a:xfrm>
          <a:prstGeom prst="ellipse">
            <a:avLst/>
          </a:prstGeom>
          <a:solidFill>
            <a:srgbClr val="5BBD8A">
              <a:alpha val="12000"/>
            </a:srgbClr>
          </a:solidFill>
          <a:ln w="12700">
            <a:solidFill>
              <a:srgbClr val="5BBD8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919D6549-82FF-9CB0-9D90-E75C4839CE23}"/>
              </a:ext>
            </a:extLst>
          </p:cNvPr>
          <p:cNvGrpSpPr/>
          <p:nvPr/>
        </p:nvGrpSpPr>
        <p:grpSpPr>
          <a:xfrm>
            <a:off x="457200" y="1615124"/>
            <a:ext cx="8229600" cy="1548011"/>
            <a:chOff x="457200" y="1456092"/>
            <a:chExt cx="8229600" cy="1548011"/>
          </a:xfrm>
        </p:grpSpPr>
        <p:sp>
          <p:nvSpPr>
            <p:cNvPr id="4" name="Text 2"/>
            <p:cNvSpPr/>
            <p:nvPr/>
          </p:nvSpPr>
          <p:spPr>
            <a:xfrm>
              <a:off x="457200" y="1456092"/>
              <a:ext cx="822960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fr-FR" sz="3200" b="1" noProof="0" dirty="0">
                  <a:solidFill>
                    <a:srgbClr val="FFFFFF"/>
                  </a:solidFill>
                  <a:latin typeface="GodOfWar" panose="00000400000000000000" pitchFamily="2" charset="0"/>
                  <a:cs typeface="Arial" panose="020B0604020202020204" pitchFamily="34" charset="0"/>
                </a:rPr>
                <a:t>Nous vous remercions de votre aimable attention</a:t>
              </a:r>
            </a:p>
          </p:txBody>
        </p:sp>
        <p:sp>
          <p:nvSpPr>
            <p:cNvPr id="5" name="Shape 3"/>
            <p:cNvSpPr/>
            <p:nvPr/>
          </p:nvSpPr>
          <p:spPr>
            <a:xfrm>
              <a:off x="2286000" y="3004103"/>
              <a:ext cx="4572000" cy="0"/>
            </a:xfrm>
            <a:prstGeom prst="line">
              <a:avLst/>
            </a:prstGeom>
            <a:noFill/>
            <a:ln w="19050">
              <a:solidFill>
                <a:srgbClr val="2A8F5A"/>
              </a:solidFill>
              <a:prstDash val="solid"/>
            </a:ln>
          </p:spPr>
          <p:txBody>
            <a:bodyPr/>
            <a:lstStyle/>
            <a:p>
              <a:endParaRPr lang="fr-FR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curtains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26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5813" y="-914399"/>
            <a:ext cx="3200400" cy="3200400"/>
          </a:xfrm>
          <a:prstGeom prst="ellipse">
            <a:avLst/>
          </a:prstGeom>
          <a:solidFill>
            <a:srgbClr val="2A8F5A">
              <a:alpha val="12000"/>
            </a:srgbClr>
          </a:solidFill>
          <a:ln w="12700">
            <a:solidFill>
              <a:srgbClr val="2A8F5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5BBD8A">
              <a:alpha val="10000"/>
            </a:srgbClr>
          </a:solidFill>
          <a:ln w="12700">
            <a:solidFill>
              <a:srgbClr val="5BBD8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5096" y="646890"/>
            <a:ext cx="3793787" cy="21373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4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Questions,</a:t>
            </a:r>
            <a:endParaRPr lang="fr-F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fr-FR" sz="4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Réponses</a:t>
            </a:r>
            <a:endParaRPr lang="fr-F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fr-FR" sz="4000" b="1" noProof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Suggestions</a:t>
            </a:r>
            <a:endParaRPr lang="fr-F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0" y="3348984"/>
            <a:ext cx="4572000" cy="0"/>
          </a:xfrm>
          <a:prstGeom prst="line">
            <a:avLst/>
          </a:prstGeom>
          <a:noFill/>
          <a:ln w="19050">
            <a:solidFill>
              <a:srgbClr val="2A8F5A"/>
            </a:solidFill>
            <a:prstDash val="solid"/>
          </a:ln>
        </p:spPr>
        <p:txBody>
          <a:bodyPr/>
          <a:lstStyle/>
          <a:p>
            <a:endParaRPr lang="fr-F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86000" y="3688076"/>
            <a:ext cx="469582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ESGAE | LP</a:t>
            </a:r>
            <a:r>
              <a:rPr lang="fr-FR" sz="120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noProof="0" dirty="0">
                <a:solidFill>
                  <a:srgbClr val="5BBD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Génie Logiciel | 2025-2026</a:t>
            </a:r>
            <a:endParaRPr lang="fr-FR" sz="12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716881" y="4145276"/>
            <a:ext cx="58340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M. BATA Grâce Deo  &amp;  M. MASSAMBA BOUESSO Christophe Darly</a:t>
            </a:r>
            <a:endParaRPr lang="fr-FR" sz="11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928812" y="4511036"/>
            <a:ext cx="541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8A9A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Directeur de Projet : M. Ornel Djenifer KIGOMA</a:t>
            </a:r>
            <a:endParaRPr lang="fr-FR" sz="11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E3490770-62F4-2872-FA35-3FA049E44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15831"/>
            <a:ext cx="3754575" cy="286170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1315</TotalTime>
  <Words>2943</Words>
  <Application>Microsoft Office PowerPoint</Application>
  <PresentationFormat>Affichage à l'écran (16:9)</PresentationFormat>
  <Paragraphs>415</Paragraphs>
  <Slides>33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36" baseType="lpstr">
      <vt:lpstr>Arial</vt:lpstr>
      <vt:lpstr>GodOfWar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SALISA - Présentation Soutenance</dc:title>
  <dc:subject>PptxGenJS Presentation</dc:subject>
  <dc:creator>PptxGenJS</dc:creator>
  <cp:lastModifiedBy>Kaze Holloway</cp:lastModifiedBy>
  <cp:revision>164</cp:revision>
  <dcterms:created xsi:type="dcterms:W3CDTF">2026-06-13T01:34:42Z</dcterms:created>
  <dcterms:modified xsi:type="dcterms:W3CDTF">2026-07-06T00:20:24Z</dcterms:modified>
</cp:coreProperties>
</file>